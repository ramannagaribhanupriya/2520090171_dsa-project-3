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paragraph text_1 item">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
        <p:nvSpPr>
          <p:cNvPr id="6" name="Title 5"/>
          <p:cNvSpPr>
            <a:spLocks noGrp="1"/>
          </p:cNvSpPr>
          <p:nvPr>
            <p:ph type="ctrTitle" idx="16385" hasCustomPrompt="1"/>
            <p:custDataLst>
              <p:tags r:id="rId2"/>
            </p:custDataLst>
          </p:nvPr>
        </p:nvSpPr>
        <p:spPr>
          <a:xfrm>
            <a:off x="1219200" y="2590800"/>
            <a:ext cx="9753600" cy="609600"/>
          </a:xfrm>
          <a:prstGeom prst="rect">
            <a:avLst/>
          </a:prstGeo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r>
              <a:rPr lang="en-US"/>
              <a:t>Click to add title</a:t>
            </a:r>
            <a:endParaRPr lang="en-US"/>
          </a:p>
        </p:txBody>
      </p:sp>
      <p:sp>
        <p:nvSpPr>
          <p:cNvPr id="7" name="Text Placeholder 6"/>
          <p:cNvSpPr>
            <a:spLocks noGrp="1"/>
          </p:cNvSpPr>
          <p:nvPr>
            <p:ph type="body" idx="16386" hasCustomPrompt="1"/>
            <p:custDataLst>
              <p:tags r:id="rId3"/>
            </p:custDataLst>
          </p:nvPr>
        </p:nvSpPr>
        <p:spPr>
          <a:xfrm>
            <a:off x="1219200" y="3352800"/>
            <a:ext cx="9753600" cy="9144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en-US" smtClean="0"/>
              <a:t>Click to add text</a:t>
            </a:r>
            <a:endParaRPr lang="en-US" smtClean="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B33"/>
        </a:solidFill>
        <a:effectLst/>
      </p:bgPr>
    </p:bg>
    <p:spTree>
      <p:nvGrpSpPr>
        <p:cNvPr id="1" name=""/>
        <p:cNvGrpSpPr/>
        <p:nvPr/>
      </p:nvGrpSpPr>
      <p:grpSpPr>
        <a:xfrm>
          <a:off x="0" y="0"/>
          <a:ext cx="0" cy="0"/>
          <a:chOff x="0" y="0"/>
          <a:chExt cx="0" cy="0"/>
        </a:xfrm>
      </p:grpSpPr>
      <p:sp>
        <p:nvSpPr>
          <p:cNvPr id="5" name="Text 3"/>
          <p:cNvSpPr/>
          <p:nvPr/>
        </p:nvSpPr>
        <p:spPr>
          <a:xfrm>
            <a:off x="731520" y="914400"/>
            <a:ext cx="10698480" cy="320040"/>
          </a:xfrm>
          <a:prstGeom prst="rect">
            <a:avLst/>
          </a:prstGeom>
          <a:noFill/>
        </p:spPr>
        <p:txBody>
          <a:bodyPr wrap="square" rtlCol="0" anchor="ctr"/>
          <a:lstStyle/>
          <a:p>
            <a:pPr marL="0" indent="0">
              <a:buNone/>
            </a:pPr>
            <a:r>
              <a:rPr lang="en-US" sz="1200" dirty="0">
                <a:solidFill>
                  <a:srgbClr val="AEB6D6"/>
                </a:solidFill>
                <a:latin typeface="Calibri" panose="020F0502020204030204" pitchFamily="34" charset="0"/>
                <a:ea typeface="Calibri" panose="020F0502020204030204" pitchFamily="34" charset="-122"/>
                <a:cs typeface="Calibri" panose="020F0502020204030204" pitchFamily="34" charset="-120"/>
              </a:rPr>
              <a:t>Department of CS&amp;IT  |  Data Structures and Algorithms – 3 (25CS2103E)</a:t>
            </a:r>
            <a:endParaRPr lang="en-US" sz="1200" dirty="0"/>
          </a:p>
        </p:txBody>
      </p:sp>
      <p:sp>
        <p:nvSpPr>
          <p:cNvPr id="6" name="Shape 4"/>
          <p:cNvSpPr/>
          <p:nvPr/>
        </p:nvSpPr>
        <p:spPr>
          <a:xfrm>
            <a:off x="777240" y="2606040"/>
            <a:ext cx="2011680" cy="0"/>
          </a:xfrm>
          <a:prstGeom prst="line">
            <a:avLst/>
          </a:prstGeom>
          <a:noFill/>
          <a:ln w="38100">
            <a:solidFill>
              <a:srgbClr val="C0392B"/>
            </a:solidFill>
            <a:prstDash val="solid"/>
          </a:ln>
        </p:spPr>
      </p:sp>
      <p:sp>
        <p:nvSpPr>
          <p:cNvPr id="7" name="Text 5"/>
          <p:cNvSpPr/>
          <p:nvPr/>
        </p:nvSpPr>
        <p:spPr>
          <a:xfrm>
            <a:off x="731520" y="2697480"/>
            <a:ext cx="10698480" cy="1554480"/>
          </a:xfrm>
          <a:prstGeom prst="rect">
            <a:avLst/>
          </a:prstGeom>
          <a:noFill/>
        </p:spPr>
        <p:txBody>
          <a:bodyPr wrap="square" rtlCol="0" anchor="ctr"/>
          <a:lstStyle/>
          <a:p>
            <a:pPr marL="0" indent="0">
              <a:lnSpc>
                <a:spcPct val="105000"/>
              </a:lnSpc>
              <a:buNone/>
            </a:pPr>
            <a:r>
              <a:rPr lang="en-US" sz="40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Resume–Job Matching &amp;</a:t>
            </a:r>
            <a:endParaRPr lang="en-US" sz="4000" dirty="0"/>
          </a:p>
          <a:p>
            <a:pPr marL="0" indent="0">
              <a:lnSpc>
                <a:spcPct val="105000"/>
              </a:lnSpc>
              <a:buNone/>
            </a:pPr>
            <a:r>
              <a:rPr lang="en-US" sz="4000" b="1" dirty="0">
                <a:solidFill>
                  <a:srgbClr val="FFFFFF"/>
                </a:solidFill>
                <a:latin typeface="Calibri" panose="020F0502020204030204" pitchFamily="34" charset="0"/>
                <a:ea typeface="Calibri" panose="020F0502020204030204" pitchFamily="34" charset="-122"/>
                <a:cs typeface="Calibri" panose="020F0502020204030204" pitchFamily="34" charset="-120"/>
              </a:rPr>
              <a:t>Talent-Marketplace Engine</a:t>
            </a:r>
            <a:endParaRPr lang="en-US" sz="4000" dirty="0"/>
          </a:p>
        </p:txBody>
      </p:sp>
      <p:sp>
        <p:nvSpPr>
          <p:cNvPr id="8" name="Text 6"/>
          <p:cNvSpPr/>
          <p:nvPr/>
        </p:nvSpPr>
        <p:spPr>
          <a:xfrm>
            <a:off x="731520" y="4160520"/>
            <a:ext cx="9601200" cy="457200"/>
          </a:xfrm>
          <a:prstGeom prst="rect">
            <a:avLst/>
          </a:prstGeom>
          <a:noFill/>
        </p:spPr>
        <p:txBody>
          <a:bodyPr wrap="square" rtlCol="0" anchor="ctr"/>
          <a:lstStyle/>
          <a:p>
            <a:pPr marL="0" indent="0">
              <a:buNone/>
            </a:pPr>
            <a:r>
              <a:rPr lang="en-US" sz="1500" i="1" dirty="0">
                <a:solidFill>
                  <a:srgbClr val="C7CDE6"/>
                </a:solidFill>
                <a:latin typeface="Calibri" panose="020F0502020204030204" pitchFamily="34" charset="0"/>
                <a:ea typeface="Calibri" panose="020F0502020204030204" pitchFamily="34" charset="-122"/>
                <a:cs typeface="Calibri" panose="020F0502020204030204" pitchFamily="34" charset="-120"/>
              </a:rPr>
              <a:t>An intelligent recruitment platform powered by AI, NLP and DSA-driven matching algorithms</a:t>
            </a:r>
            <a:endParaRPr lang="en-US" sz="1500" dirty="0"/>
          </a:p>
        </p:txBody>
      </p:sp>
      <p:sp>
        <p:nvSpPr>
          <p:cNvPr id="9" name="Shape 7"/>
          <p:cNvSpPr/>
          <p:nvPr/>
        </p:nvSpPr>
        <p:spPr>
          <a:xfrm>
            <a:off x="731520" y="4892040"/>
            <a:ext cx="5577840" cy="1417320"/>
          </a:xfrm>
          <a:prstGeom prst="roundRect">
            <a:avLst>
              <a:gd name="adj" fmla="val 5161"/>
            </a:avLst>
          </a:prstGeom>
          <a:solidFill>
            <a:srgbClr val="1B2A4A"/>
          </a:solidFill>
        </p:spPr>
      </p:sp>
      <p:sp>
        <p:nvSpPr>
          <p:cNvPr id="10" name="Text 8"/>
          <p:cNvSpPr/>
          <p:nvPr/>
        </p:nvSpPr>
        <p:spPr>
          <a:xfrm>
            <a:off x="960120" y="5010912"/>
            <a:ext cx="5120640" cy="274320"/>
          </a:xfrm>
          <a:prstGeom prst="rect">
            <a:avLst/>
          </a:prstGeom>
          <a:noFill/>
        </p:spPr>
        <p:txBody>
          <a:bodyPr wrap="square" rtlCol="0" anchor="ctr"/>
          <a:lstStyle/>
          <a:p>
            <a:pPr marL="0" indent="0">
              <a:buNone/>
            </a:pPr>
            <a:r>
              <a:rPr lang="en-US" sz="1100" b="1" kern="0" spc="100" dirty="0">
                <a:solidFill>
                  <a:srgbClr val="C0392B"/>
                </a:solidFill>
                <a:latin typeface="Calibri" panose="020F0502020204030204" pitchFamily="34" charset="0"/>
                <a:ea typeface="Calibri" panose="020F0502020204030204" pitchFamily="34" charset="-122"/>
                <a:cs typeface="Calibri" panose="020F0502020204030204" pitchFamily="34" charset="-120"/>
              </a:rPr>
              <a:t>TEAM  11   ·   SECTION 12</a:t>
            </a:r>
            <a:endParaRPr lang="en-US" sz="1100" dirty="0"/>
          </a:p>
        </p:txBody>
      </p:sp>
      <p:sp>
        <p:nvSpPr>
          <p:cNvPr id="11" name="Text 9"/>
          <p:cNvSpPr/>
          <p:nvPr/>
        </p:nvSpPr>
        <p:spPr>
          <a:xfrm>
            <a:off x="960120" y="5303520"/>
            <a:ext cx="5120640" cy="960120"/>
          </a:xfrm>
          <a:prstGeom prst="rect">
            <a:avLst/>
          </a:prstGeom>
          <a:noFill/>
        </p:spPr>
        <p:txBody>
          <a:bodyPr wrap="square" rtlCol="0" anchor="ctr"/>
          <a:lstStyle/>
          <a:p>
            <a:pPr marL="0" indent="0">
              <a:lnSpc>
                <a:spcPts val="1800"/>
              </a:lnSpc>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Ramannagari Bhanu Priya</a:t>
            </a:r>
            <a:endParaRPr lang="en-US" sz="1400" dirty="0"/>
          </a:p>
          <a:p>
            <a:pPr marL="0" indent="0">
              <a:lnSpc>
                <a:spcPts val="1800"/>
              </a:lnSpc>
              <a:buNone/>
            </a:pPr>
            <a:r>
              <a:rPr lang="en-US" sz="1200" dirty="0">
                <a:solidFill>
                  <a:srgbClr val="AEB6D6"/>
                </a:solidFill>
                <a:latin typeface="Calibri" panose="020F0502020204030204" pitchFamily="34" charset="0"/>
                <a:ea typeface="Calibri" panose="020F0502020204030204" pitchFamily="34" charset="-122"/>
                <a:cs typeface="Calibri" panose="020F0502020204030204" pitchFamily="34" charset="-120"/>
              </a:rPr>
              <a:t>2520090171</a:t>
            </a:r>
            <a:endParaRPr lang="en-US" sz="1400" dirty="0"/>
          </a:p>
          <a:p>
            <a:pPr marL="0" indent="0">
              <a:lnSpc>
                <a:spcPts val="1800"/>
              </a:lnSpc>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Daivapu Ananya</a:t>
            </a:r>
            <a:endParaRPr lang="en-US" sz="1400" dirty="0"/>
          </a:p>
          <a:p>
            <a:pPr marL="0" indent="0">
              <a:lnSpc>
                <a:spcPts val="1800"/>
              </a:lnSpc>
              <a:buNone/>
            </a:pPr>
            <a:r>
              <a:rPr lang="en-US" sz="1200" dirty="0">
                <a:solidFill>
                  <a:srgbClr val="AEB6D6"/>
                </a:solidFill>
                <a:latin typeface="Calibri" panose="020F0502020204030204" pitchFamily="34" charset="0"/>
                <a:ea typeface="Calibri" panose="020F0502020204030204" pitchFamily="34" charset="-122"/>
                <a:cs typeface="Calibri" panose="020F0502020204030204" pitchFamily="34" charset="-120"/>
              </a:rPr>
              <a:t>2520090011</a:t>
            </a:r>
            <a:endParaRPr lang="en-US" sz="1400" dirty="0"/>
          </a:p>
        </p:txBody>
      </p:sp>
      <p:sp>
        <p:nvSpPr>
          <p:cNvPr id="12" name="Shape 10"/>
          <p:cNvSpPr/>
          <p:nvPr/>
        </p:nvSpPr>
        <p:spPr>
          <a:xfrm>
            <a:off x="6492240" y="4892040"/>
            <a:ext cx="4983480" cy="1417320"/>
          </a:xfrm>
          <a:prstGeom prst="roundRect">
            <a:avLst>
              <a:gd name="adj" fmla="val 5161"/>
            </a:avLst>
          </a:prstGeom>
          <a:solidFill>
            <a:srgbClr val="3F3D9E"/>
          </a:solidFill>
        </p:spPr>
      </p:sp>
      <p:sp>
        <p:nvSpPr>
          <p:cNvPr id="13" name="Text 11"/>
          <p:cNvSpPr/>
          <p:nvPr/>
        </p:nvSpPr>
        <p:spPr>
          <a:xfrm>
            <a:off x="6720840" y="5010912"/>
            <a:ext cx="4572000" cy="274320"/>
          </a:xfrm>
          <a:prstGeom prst="rect">
            <a:avLst/>
          </a:prstGeom>
          <a:noFill/>
        </p:spPr>
        <p:txBody>
          <a:bodyPr wrap="square" rtlCol="0" anchor="ctr"/>
          <a:lstStyle/>
          <a:p>
            <a:pPr marL="0" indent="0">
              <a:buNone/>
            </a:pPr>
            <a:r>
              <a:rPr lang="en-US" sz="1100" b="1" kern="0" spc="100" dirty="0">
                <a:solidFill>
                  <a:srgbClr val="D8DAF7"/>
                </a:solidFill>
                <a:latin typeface="Calibri" panose="020F0502020204030204" pitchFamily="34" charset="0"/>
                <a:ea typeface="Calibri" panose="020F0502020204030204" pitchFamily="34" charset="-122"/>
                <a:cs typeface="Calibri" panose="020F0502020204030204" pitchFamily="34" charset="-120"/>
              </a:rPr>
              <a:t>UNDER THE GUIDANCE OF</a:t>
            </a:r>
            <a:endParaRPr lang="en-US" sz="1100" dirty="0"/>
          </a:p>
        </p:txBody>
      </p:sp>
      <p:sp>
        <p:nvSpPr>
          <p:cNvPr id="14" name="Text 12"/>
          <p:cNvSpPr/>
          <p:nvPr/>
        </p:nvSpPr>
        <p:spPr>
          <a:xfrm>
            <a:off x="6720840" y="5303520"/>
            <a:ext cx="4572000" cy="960120"/>
          </a:xfrm>
          <a:prstGeom prst="rect">
            <a:avLst/>
          </a:prstGeom>
          <a:noFill/>
        </p:spPr>
        <p:txBody>
          <a:bodyPr wrap="square" rtlCol="0" anchor="ctr"/>
          <a:lstStyle/>
          <a:p>
            <a:pPr marL="0" indent="0">
              <a:lnSpc>
                <a:spcPts val="1800"/>
              </a:lnSpc>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Ms. K. Chandusha</a:t>
            </a:r>
            <a:endParaRPr lang="en-US" sz="1400" dirty="0"/>
          </a:p>
          <a:p>
            <a:pPr marL="0" indent="0">
              <a:lnSpc>
                <a:spcPts val="1800"/>
              </a:lnSpc>
              <a:buNone/>
            </a:pPr>
            <a:r>
              <a:rPr lang="en-US" sz="1200" dirty="0">
                <a:solidFill>
                  <a:srgbClr val="D8DAF7"/>
                </a:solidFill>
                <a:latin typeface="Calibri" panose="020F0502020204030204" pitchFamily="34" charset="0"/>
                <a:ea typeface="Calibri" panose="020F0502020204030204" pitchFamily="34" charset="-122"/>
                <a:cs typeface="Calibri" panose="020F0502020204030204" pitchFamily="34" charset="-120"/>
              </a:rPr>
              <a:t>Asst. Professor, CS&amp;IT</a:t>
            </a:r>
            <a:endParaRPr lang="en-US" sz="1400" dirty="0"/>
          </a:p>
          <a:p>
            <a:pPr marL="0" indent="0">
              <a:lnSpc>
                <a:spcPts val="1800"/>
              </a:lnSpc>
              <a:buNone/>
            </a:pPr>
            <a:r>
              <a:rPr lang="en-US" sz="1200" dirty="0">
                <a:solidFill>
                  <a:srgbClr val="D8DAF7"/>
                </a:solidFill>
                <a:latin typeface="Calibri" panose="020F0502020204030204" pitchFamily="34" charset="0"/>
                <a:ea typeface="Calibri" panose="020F0502020204030204" pitchFamily="34" charset="-122"/>
                <a:cs typeface="Calibri" panose="020F0502020204030204" pitchFamily="34" charset="-120"/>
              </a:rPr>
              <a:t>A.Y.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300" b="1" kern="0" spc="200" dirty="0">
                <a:solidFill>
                  <a:srgbClr val="C0392B"/>
                </a:solidFill>
                <a:latin typeface="Calibri" panose="020F0502020204030204" pitchFamily="34" charset="0"/>
                <a:ea typeface="Calibri" panose="020F0502020204030204" pitchFamily="34" charset="-122"/>
                <a:cs typeface="Calibri" panose="020F0502020204030204" pitchFamily="34" charset="-120"/>
              </a:rPr>
              <a:t>PROJECT OVERVIEW</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01B33"/>
                </a:solidFill>
                <a:latin typeface="Calibri" panose="020F0502020204030204" pitchFamily="34" charset="0"/>
                <a:ea typeface="Calibri" panose="020F0502020204030204" pitchFamily="34" charset="-122"/>
                <a:cs typeface="Calibri" panose="020F0502020204030204" pitchFamily="34" charset="-120"/>
              </a:rPr>
              <a:t>Abstract</a:t>
            </a:r>
            <a:endParaRPr lang="en-US" sz="3000" dirty="0"/>
          </a:p>
        </p:txBody>
      </p:sp>
      <p:sp>
        <p:nvSpPr>
          <p:cNvPr id="4" name="Shape 2"/>
          <p:cNvSpPr/>
          <p:nvPr/>
        </p:nvSpPr>
        <p:spPr>
          <a:xfrm>
            <a:off x="548640" y="1600200"/>
            <a:ext cx="7315200" cy="4480560"/>
          </a:xfrm>
          <a:prstGeom prst="roundRect">
            <a:avLst>
              <a:gd name="adj" fmla="val 2041"/>
            </a:avLst>
          </a:prstGeom>
          <a:solidFill>
            <a:srgbClr val="FFFFFF"/>
          </a:solidFill>
          <a:effectLst>
            <a:outerShdw blurRad="101600" dist="38100" dir="5400000" algn="bl" rotWithShape="0">
              <a:srgbClr val="1B2A4A">
                <a:alpha val="18000"/>
              </a:srgbClr>
            </a:outerShdw>
          </a:effectLst>
        </p:spPr>
      </p:sp>
      <p:sp>
        <p:nvSpPr>
          <p:cNvPr id="5" name="Text 3"/>
          <p:cNvSpPr/>
          <p:nvPr/>
        </p:nvSpPr>
        <p:spPr>
          <a:xfrm>
            <a:off x="868680" y="1874520"/>
            <a:ext cx="6675120" cy="3931920"/>
          </a:xfrm>
          <a:prstGeom prst="rect">
            <a:avLst/>
          </a:prstGeom>
          <a:noFill/>
        </p:spPr>
        <p:txBody>
          <a:bodyPr wrap="square" rtlCol="0" anchor="t"/>
          <a:lstStyle/>
          <a:p>
            <a:pPr marL="0" indent="0">
              <a:lnSpc>
                <a:spcPct val="130000"/>
              </a:lnSpc>
              <a:buNone/>
            </a:pPr>
            <a:r>
              <a:rPr lang="en-US" sz="1450" dirty="0">
                <a:solidFill>
                  <a:srgbClr val="4A4A58"/>
                </a:solidFill>
                <a:latin typeface="Calibri" panose="020F0502020204030204" pitchFamily="34" charset="0"/>
                <a:ea typeface="Calibri" panose="020F0502020204030204" pitchFamily="34" charset="-122"/>
                <a:cs typeface="Calibri" panose="020F0502020204030204" pitchFamily="34" charset="-120"/>
              </a:rPr>
              <a:t>The Resume–Job Matching &amp; Talent Marketplace Engine is an intelligent recruitment platform connecting job seekers with employers through automated résumé analysis and smart job recommendations. It uses AI, NLP and machine learning to extract skills, education, certifications, projects and experience from resumes, then compares this data with job requirements to generate accurate matching scores. Recruiters can filter, rank and shortlist candidates efficiently, while the platform also identifies skill gaps and suggests personalised learning resources — building a transparent, centralised talent marketplace.</a:t>
            </a:r>
            <a:endParaRPr lang="en-US" sz="1450" dirty="0"/>
          </a:p>
        </p:txBody>
      </p:sp>
      <p:sp>
        <p:nvSpPr>
          <p:cNvPr id="6" name="Shape 4"/>
          <p:cNvSpPr/>
          <p:nvPr/>
        </p:nvSpPr>
        <p:spPr>
          <a:xfrm>
            <a:off x="8092440" y="1600200"/>
            <a:ext cx="3566160" cy="1325880"/>
          </a:xfrm>
          <a:prstGeom prst="roundRect">
            <a:avLst>
              <a:gd name="adj" fmla="val 6207"/>
            </a:avLst>
          </a:prstGeom>
          <a:solidFill>
            <a:srgbClr val="1B2A4A"/>
          </a:solidFill>
        </p:spPr>
      </p:sp>
      <p:sp>
        <p:nvSpPr>
          <p:cNvPr id="7" name="Text 5"/>
          <p:cNvSpPr/>
          <p:nvPr/>
        </p:nvSpPr>
        <p:spPr>
          <a:xfrm>
            <a:off x="8321040" y="1737360"/>
            <a:ext cx="3108960" cy="457200"/>
          </a:xfrm>
          <a:prstGeom prst="rect">
            <a:avLst/>
          </a:prstGeom>
          <a:noFill/>
        </p:spPr>
        <p:txBody>
          <a:bodyPr wrap="square" rtlCol="0" anchor="ctr"/>
          <a:lstStyle/>
          <a:p>
            <a:pPr marL="0" indent="0">
              <a:buNone/>
            </a:pPr>
            <a:r>
              <a:rPr lang="en-US" sz="1800" b="1" dirty="0">
                <a:solidFill>
                  <a:srgbClr val="C0392B"/>
                </a:solidFill>
                <a:latin typeface="Calibri" panose="020F0502020204030204" pitchFamily="34" charset="0"/>
                <a:ea typeface="Calibri" panose="020F0502020204030204" pitchFamily="34" charset="-122"/>
                <a:cs typeface="Calibri" panose="020F0502020204030204" pitchFamily="34" charset="-120"/>
              </a:rPr>
              <a:t>AI + NLP</a:t>
            </a:r>
            <a:endParaRPr lang="en-US" sz="1800" dirty="0"/>
          </a:p>
        </p:txBody>
      </p:sp>
      <p:sp>
        <p:nvSpPr>
          <p:cNvPr id="8" name="Text 6"/>
          <p:cNvSpPr/>
          <p:nvPr/>
        </p:nvSpPr>
        <p:spPr>
          <a:xfrm>
            <a:off x="8321040" y="2221992"/>
            <a:ext cx="3108960" cy="548640"/>
          </a:xfrm>
          <a:prstGeom prst="rect">
            <a:avLst/>
          </a:prstGeom>
          <a:noFill/>
        </p:spPr>
        <p:txBody>
          <a:bodyPr wrap="square" rtlCol="0" anchor="ctr"/>
          <a:lstStyle/>
          <a:p>
            <a:pPr marL="0" indent="0">
              <a:buNone/>
            </a:pPr>
            <a:r>
              <a:rPr lang="en-US" sz="1250" dirty="0">
                <a:solidFill>
                  <a:srgbClr val="D6DAEA"/>
                </a:solidFill>
                <a:latin typeface="Calibri" panose="020F0502020204030204" pitchFamily="34" charset="0"/>
                <a:ea typeface="Calibri" panose="020F0502020204030204" pitchFamily="34" charset="-122"/>
                <a:cs typeface="Calibri" panose="020F0502020204030204" pitchFamily="34" charset="-120"/>
              </a:rPr>
              <a:t>Resume parsing engine</a:t>
            </a:r>
            <a:endParaRPr lang="en-US" sz="1250" dirty="0"/>
          </a:p>
        </p:txBody>
      </p:sp>
      <p:sp>
        <p:nvSpPr>
          <p:cNvPr id="9" name="Shape 7"/>
          <p:cNvSpPr/>
          <p:nvPr/>
        </p:nvSpPr>
        <p:spPr>
          <a:xfrm>
            <a:off x="8092440" y="3136392"/>
            <a:ext cx="3566160" cy="1325880"/>
          </a:xfrm>
          <a:prstGeom prst="roundRect">
            <a:avLst>
              <a:gd name="adj" fmla="val 6207"/>
            </a:avLst>
          </a:prstGeom>
          <a:solidFill>
            <a:srgbClr val="1B2A4A"/>
          </a:solidFill>
        </p:spPr>
      </p:sp>
      <p:sp>
        <p:nvSpPr>
          <p:cNvPr id="10" name="Text 8"/>
          <p:cNvSpPr/>
          <p:nvPr/>
        </p:nvSpPr>
        <p:spPr>
          <a:xfrm>
            <a:off x="8321040" y="3273552"/>
            <a:ext cx="3108960" cy="457200"/>
          </a:xfrm>
          <a:prstGeom prst="rect">
            <a:avLst/>
          </a:prstGeom>
          <a:noFill/>
        </p:spPr>
        <p:txBody>
          <a:bodyPr wrap="square" rtlCol="0" anchor="ctr"/>
          <a:lstStyle/>
          <a:p>
            <a:pPr marL="0" indent="0">
              <a:buNone/>
            </a:pPr>
            <a:r>
              <a:rPr lang="en-US" sz="1800" b="1" dirty="0">
                <a:solidFill>
                  <a:srgbClr val="C0392B"/>
                </a:solidFill>
                <a:latin typeface="Calibri" panose="020F0502020204030204" pitchFamily="34" charset="0"/>
                <a:ea typeface="Calibri" panose="020F0502020204030204" pitchFamily="34" charset="-122"/>
                <a:cs typeface="Calibri" panose="020F0502020204030204" pitchFamily="34" charset="-120"/>
              </a:rPr>
              <a:t>Smart Score</a:t>
            </a:r>
            <a:endParaRPr lang="en-US" sz="1800" dirty="0"/>
          </a:p>
        </p:txBody>
      </p:sp>
      <p:sp>
        <p:nvSpPr>
          <p:cNvPr id="11" name="Text 9"/>
          <p:cNvSpPr/>
          <p:nvPr/>
        </p:nvSpPr>
        <p:spPr>
          <a:xfrm>
            <a:off x="8321040" y="3758184"/>
            <a:ext cx="3108960" cy="548640"/>
          </a:xfrm>
          <a:prstGeom prst="rect">
            <a:avLst/>
          </a:prstGeom>
          <a:noFill/>
        </p:spPr>
        <p:txBody>
          <a:bodyPr wrap="square" rtlCol="0" anchor="ctr"/>
          <a:lstStyle/>
          <a:p>
            <a:pPr marL="0" indent="0">
              <a:buNone/>
            </a:pPr>
            <a:r>
              <a:rPr lang="en-US" sz="1250" dirty="0">
                <a:solidFill>
                  <a:srgbClr val="D6DAEA"/>
                </a:solidFill>
                <a:latin typeface="Calibri" panose="020F0502020204030204" pitchFamily="34" charset="0"/>
                <a:ea typeface="Calibri" panose="020F0502020204030204" pitchFamily="34" charset="-122"/>
                <a:cs typeface="Calibri" panose="020F0502020204030204" pitchFamily="34" charset="-120"/>
              </a:rPr>
              <a:t>Candidate–job matching</a:t>
            </a:r>
            <a:endParaRPr lang="en-US" sz="1250" dirty="0"/>
          </a:p>
        </p:txBody>
      </p:sp>
      <p:sp>
        <p:nvSpPr>
          <p:cNvPr id="12" name="Shape 10"/>
          <p:cNvSpPr/>
          <p:nvPr/>
        </p:nvSpPr>
        <p:spPr>
          <a:xfrm>
            <a:off x="8092440" y="4672584"/>
            <a:ext cx="3566160" cy="1325880"/>
          </a:xfrm>
          <a:prstGeom prst="roundRect">
            <a:avLst>
              <a:gd name="adj" fmla="val 6207"/>
            </a:avLst>
          </a:prstGeom>
          <a:solidFill>
            <a:srgbClr val="1B2A4A"/>
          </a:solidFill>
        </p:spPr>
      </p:sp>
      <p:sp>
        <p:nvSpPr>
          <p:cNvPr id="13" name="Text 11"/>
          <p:cNvSpPr/>
          <p:nvPr/>
        </p:nvSpPr>
        <p:spPr>
          <a:xfrm>
            <a:off x="8321040" y="4809744"/>
            <a:ext cx="3108960" cy="457200"/>
          </a:xfrm>
          <a:prstGeom prst="rect">
            <a:avLst/>
          </a:prstGeom>
          <a:noFill/>
        </p:spPr>
        <p:txBody>
          <a:bodyPr wrap="square" rtlCol="0" anchor="ctr"/>
          <a:lstStyle/>
          <a:p>
            <a:pPr marL="0" indent="0">
              <a:buNone/>
            </a:pPr>
            <a:r>
              <a:rPr lang="en-US" sz="1800" b="1" dirty="0">
                <a:solidFill>
                  <a:srgbClr val="C0392B"/>
                </a:solidFill>
                <a:latin typeface="Calibri" panose="020F0502020204030204" pitchFamily="34" charset="0"/>
                <a:ea typeface="Calibri" panose="020F0502020204030204" pitchFamily="34" charset="-122"/>
                <a:cs typeface="Calibri" panose="020F0502020204030204" pitchFamily="34" charset="-120"/>
              </a:rPr>
              <a:t>Skill Gap</a:t>
            </a:r>
            <a:endParaRPr lang="en-US" sz="1800" dirty="0"/>
          </a:p>
        </p:txBody>
      </p:sp>
      <p:sp>
        <p:nvSpPr>
          <p:cNvPr id="14" name="Text 12"/>
          <p:cNvSpPr/>
          <p:nvPr/>
        </p:nvSpPr>
        <p:spPr>
          <a:xfrm>
            <a:off x="8321040" y="5294376"/>
            <a:ext cx="3108960" cy="548640"/>
          </a:xfrm>
          <a:prstGeom prst="rect">
            <a:avLst/>
          </a:prstGeom>
          <a:noFill/>
        </p:spPr>
        <p:txBody>
          <a:bodyPr wrap="square" rtlCol="0" anchor="ctr"/>
          <a:lstStyle/>
          <a:p>
            <a:pPr marL="0" indent="0">
              <a:buNone/>
            </a:pPr>
            <a:r>
              <a:rPr lang="en-US" sz="1250" dirty="0">
                <a:solidFill>
                  <a:srgbClr val="D6DAEA"/>
                </a:solidFill>
                <a:latin typeface="Calibri" panose="020F0502020204030204" pitchFamily="34" charset="0"/>
                <a:ea typeface="Calibri" panose="020F0502020204030204" pitchFamily="34" charset="-122"/>
                <a:cs typeface="Calibri" panose="020F0502020204030204" pitchFamily="34" charset="-120"/>
              </a:rPr>
              <a:t>Personalised recommendations</a:t>
            </a:r>
            <a:endParaRPr lang="en-US" sz="1250" dirty="0"/>
          </a:p>
        </p:txBody>
      </p:sp>
      <p:sp>
        <p:nvSpPr>
          <p:cNvPr id="15" name="Text 13"/>
          <p:cNvSpPr/>
          <p:nvPr/>
        </p:nvSpPr>
        <p:spPr>
          <a:xfrm>
            <a:off x="365760" y="6473952"/>
            <a:ext cx="7315200" cy="274320"/>
          </a:xfrm>
          <a:prstGeom prst="rect">
            <a:avLst/>
          </a:prstGeom>
          <a:noFill/>
        </p:spPr>
        <p:txBody>
          <a:bodyPr wrap="square" rtlCol="0" anchor="ctr"/>
          <a:lstStyle/>
          <a:p>
            <a:pPr marL="0" indent="0">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Resume–Job Matching &amp; Talent-Marketplace Engine</a:t>
            </a:r>
            <a:endParaRPr lang="en-US" sz="900" dirty="0"/>
          </a:p>
        </p:txBody>
      </p:sp>
      <p:sp>
        <p:nvSpPr>
          <p:cNvPr id="16" name="Text 14"/>
          <p:cNvSpPr/>
          <p:nvPr/>
        </p:nvSpPr>
        <p:spPr>
          <a:xfrm>
            <a:off x="11365992" y="6473952"/>
            <a:ext cx="457200" cy="274320"/>
          </a:xfrm>
          <a:prstGeom prst="rect">
            <a:avLst/>
          </a:prstGeom>
          <a:noFill/>
        </p:spPr>
        <p:txBody>
          <a:bodyPr wrap="square" rtlCol="0" anchor="ctr"/>
          <a:lstStyle/>
          <a:p>
            <a:pPr marL="0" indent="0" algn="r">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5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300" b="1" kern="0" spc="200" dirty="0">
                <a:solidFill>
                  <a:srgbClr val="C0392B"/>
                </a:solidFill>
                <a:latin typeface="Calibri" panose="020F0502020204030204" pitchFamily="34" charset="0"/>
                <a:ea typeface="Calibri" panose="020F0502020204030204" pitchFamily="34" charset="-122"/>
                <a:cs typeface="Calibri" panose="020F0502020204030204" pitchFamily="34" charset="-120"/>
              </a:rPr>
              <a:t>GETTING STARTED</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01B33"/>
                </a:solidFill>
                <a:latin typeface="Calibri" panose="020F0502020204030204" pitchFamily="34" charset="0"/>
                <a:ea typeface="Calibri" panose="020F0502020204030204" pitchFamily="34" charset="-122"/>
                <a:cs typeface="Calibri" panose="020F0502020204030204" pitchFamily="34" charset="-120"/>
              </a:rPr>
              <a:t>Introduction</a:t>
            </a:r>
            <a:endParaRPr lang="en-US" sz="3000" dirty="0"/>
          </a:p>
        </p:txBody>
      </p:sp>
      <p:sp>
        <p:nvSpPr>
          <p:cNvPr id="4" name="Shape 2"/>
          <p:cNvSpPr/>
          <p:nvPr/>
        </p:nvSpPr>
        <p:spPr>
          <a:xfrm>
            <a:off x="548640" y="1691640"/>
            <a:ext cx="5349240" cy="1965960"/>
          </a:xfrm>
          <a:prstGeom prst="roundRect">
            <a:avLst>
              <a:gd name="adj" fmla="val 4186"/>
            </a:avLst>
          </a:prstGeom>
          <a:solidFill>
            <a:srgbClr val="FFFFFF"/>
          </a:solidFill>
          <a:effectLst>
            <a:outerShdw blurRad="88900" dist="25400" dir="5400000" algn="bl" rotWithShape="0">
              <a:srgbClr val="1B2A4A">
                <a:alpha val="15000"/>
              </a:srgbClr>
            </a:outerShdw>
          </a:effectLst>
        </p:spPr>
      </p:sp>
      <p:sp>
        <p:nvSpPr>
          <p:cNvPr id="5" name="Shape 3"/>
          <p:cNvSpPr/>
          <p:nvPr/>
        </p:nvSpPr>
        <p:spPr>
          <a:xfrm>
            <a:off x="804672" y="1920240"/>
            <a:ext cx="457200" cy="457200"/>
          </a:xfrm>
          <a:prstGeom prst="roundRect">
            <a:avLst>
              <a:gd name="adj" fmla="val 50000"/>
            </a:avLst>
          </a:prstGeom>
          <a:solidFill>
            <a:srgbClr val="C0392B"/>
          </a:solidFill>
        </p:spPr>
      </p:sp>
      <p:sp>
        <p:nvSpPr>
          <p:cNvPr id="6" name="Text 4"/>
          <p:cNvSpPr/>
          <p:nvPr/>
        </p:nvSpPr>
        <p:spPr>
          <a:xfrm>
            <a:off x="804672" y="1920240"/>
            <a:ext cx="457200" cy="45720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7" name="Text 5"/>
          <p:cNvSpPr/>
          <p:nvPr/>
        </p:nvSpPr>
        <p:spPr>
          <a:xfrm>
            <a:off x="1417320" y="1892808"/>
            <a:ext cx="4251960" cy="365760"/>
          </a:xfrm>
          <a:prstGeom prst="rect">
            <a:avLst/>
          </a:prstGeom>
          <a:noFill/>
        </p:spPr>
        <p:txBody>
          <a:bodyPr wrap="square" rtlCol="0" anchor="ctr"/>
          <a:lstStyle/>
          <a:p>
            <a:pPr marL="0" indent="0">
              <a:buNone/>
            </a:pPr>
            <a:r>
              <a:rPr lang="en-US" sz="1550" b="1" dirty="0">
                <a:solidFill>
                  <a:srgbClr val="101B33"/>
                </a:solidFill>
                <a:latin typeface="Calibri" panose="020F0502020204030204" pitchFamily="34" charset="0"/>
                <a:ea typeface="Calibri" panose="020F0502020204030204" pitchFamily="34" charset="-122"/>
                <a:cs typeface="Calibri" panose="020F0502020204030204" pitchFamily="34" charset="-120"/>
              </a:rPr>
              <a:t>The Problem</a:t>
            </a:r>
            <a:endParaRPr lang="en-US" sz="1550" dirty="0"/>
          </a:p>
        </p:txBody>
      </p:sp>
      <p:sp>
        <p:nvSpPr>
          <p:cNvPr id="8" name="Text 6"/>
          <p:cNvSpPr/>
          <p:nvPr/>
        </p:nvSpPr>
        <p:spPr>
          <a:xfrm>
            <a:off x="841248" y="2468880"/>
            <a:ext cx="4800600" cy="1051560"/>
          </a:xfrm>
          <a:prstGeom prst="rect">
            <a:avLst/>
          </a:prstGeom>
          <a:noFill/>
        </p:spPr>
        <p:txBody>
          <a:bodyPr wrap="square" rtlCol="0" anchor="t"/>
          <a:lstStyle/>
          <a:p>
            <a:pPr marL="0" indent="0">
              <a:lnSpc>
                <a:spcPct val="120000"/>
              </a:lnSpc>
              <a:buNone/>
            </a:pPr>
            <a:r>
              <a:rPr lang="en-US" sz="1200" dirty="0">
                <a:solidFill>
                  <a:srgbClr val="4A4A58"/>
                </a:solidFill>
                <a:latin typeface="Calibri" panose="020F0502020204030204" pitchFamily="34" charset="0"/>
                <a:ea typeface="Calibri" panose="020F0502020204030204" pitchFamily="34" charset="-122"/>
                <a:cs typeface="Calibri" panose="020F0502020204030204" pitchFamily="34" charset="-120"/>
              </a:rPr>
              <a:t>Manual résumé screening is slow, inconsistent and prone to human bias, making it hard for recruiters to identify the best-fit candidates at scale.</a:t>
            </a:r>
            <a:endParaRPr lang="en-US" sz="1200" dirty="0"/>
          </a:p>
        </p:txBody>
      </p:sp>
      <p:sp>
        <p:nvSpPr>
          <p:cNvPr id="9" name="Shape 7"/>
          <p:cNvSpPr/>
          <p:nvPr/>
        </p:nvSpPr>
        <p:spPr>
          <a:xfrm>
            <a:off x="6217920" y="1691640"/>
            <a:ext cx="5349240" cy="1965960"/>
          </a:xfrm>
          <a:prstGeom prst="roundRect">
            <a:avLst>
              <a:gd name="adj" fmla="val 4186"/>
            </a:avLst>
          </a:prstGeom>
          <a:solidFill>
            <a:srgbClr val="FFFFFF"/>
          </a:solidFill>
          <a:effectLst>
            <a:outerShdw blurRad="88900" dist="25400" dir="5400000" algn="bl" rotWithShape="0">
              <a:srgbClr val="1B2A4A">
                <a:alpha val="15000"/>
              </a:srgbClr>
            </a:outerShdw>
          </a:effectLst>
        </p:spPr>
      </p:sp>
      <p:sp>
        <p:nvSpPr>
          <p:cNvPr id="10" name="Shape 8"/>
          <p:cNvSpPr/>
          <p:nvPr/>
        </p:nvSpPr>
        <p:spPr>
          <a:xfrm>
            <a:off x="6473952" y="1920240"/>
            <a:ext cx="457200" cy="457200"/>
          </a:xfrm>
          <a:prstGeom prst="roundRect">
            <a:avLst>
              <a:gd name="adj" fmla="val 50000"/>
            </a:avLst>
          </a:prstGeom>
          <a:solidFill>
            <a:srgbClr val="3F3D9E"/>
          </a:solidFill>
        </p:spPr>
      </p:sp>
      <p:sp>
        <p:nvSpPr>
          <p:cNvPr id="11" name="Text 9"/>
          <p:cNvSpPr/>
          <p:nvPr/>
        </p:nvSpPr>
        <p:spPr>
          <a:xfrm>
            <a:off x="6473952" y="1920240"/>
            <a:ext cx="457200" cy="45720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2" name="Text 10"/>
          <p:cNvSpPr/>
          <p:nvPr/>
        </p:nvSpPr>
        <p:spPr>
          <a:xfrm>
            <a:off x="7086600" y="1892808"/>
            <a:ext cx="4251960" cy="365760"/>
          </a:xfrm>
          <a:prstGeom prst="rect">
            <a:avLst/>
          </a:prstGeom>
          <a:noFill/>
        </p:spPr>
        <p:txBody>
          <a:bodyPr wrap="square" rtlCol="0" anchor="ctr"/>
          <a:lstStyle/>
          <a:p>
            <a:pPr marL="0" indent="0">
              <a:buNone/>
            </a:pPr>
            <a:r>
              <a:rPr lang="en-US" sz="1550" b="1" dirty="0">
                <a:solidFill>
                  <a:srgbClr val="101B33"/>
                </a:solidFill>
                <a:latin typeface="Calibri" panose="020F0502020204030204" pitchFamily="34" charset="0"/>
                <a:ea typeface="Calibri" panose="020F0502020204030204" pitchFamily="34" charset="-122"/>
                <a:cs typeface="Calibri" panose="020F0502020204030204" pitchFamily="34" charset="-120"/>
              </a:rPr>
              <a:t>The Opportunity</a:t>
            </a:r>
            <a:endParaRPr lang="en-US" sz="1550" dirty="0"/>
          </a:p>
        </p:txBody>
      </p:sp>
      <p:sp>
        <p:nvSpPr>
          <p:cNvPr id="13" name="Text 11"/>
          <p:cNvSpPr/>
          <p:nvPr/>
        </p:nvSpPr>
        <p:spPr>
          <a:xfrm>
            <a:off x="6510528" y="2468880"/>
            <a:ext cx="4800600" cy="1051560"/>
          </a:xfrm>
          <a:prstGeom prst="rect">
            <a:avLst/>
          </a:prstGeom>
          <a:noFill/>
        </p:spPr>
        <p:txBody>
          <a:bodyPr wrap="square" rtlCol="0" anchor="t"/>
          <a:lstStyle/>
          <a:p>
            <a:pPr marL="0" indent="0">
              <a:lnSpc>
                <a:spcPct val="120000"/>
              </a:lnSpc>
              <a:buNone/>
            </a:pPr>
            <a:r>
              <a:rPr lang="en-US" sz="1200" dirty="0">
                <a:solidFill>
                  <a:srgbClr val="4A4A58"/>
                </a:solidFill>
                <a:latin typeface="Calibri" panose="020F0502020204030204" pitchFamily="34" charset="0"/>
                <a:ea typeface="Calibri" panose="020F0502020204030204" pitchFamily="34" charset="-122"/>
                <a:cs typeface="Calibri" panose="020F0502020204030204" pitchFamily="34" charset="-120"/>
              </a:rPr>
              <a:t>Automated, algorithm-driven matching can process thousands of résumés in seconds while improving accuracy and fairness in shortlisting.</a:t>
            </a:r>
            <a:endParaRPr lang="en-US" sz="1200" dirty="0"/>
          </a:p>
        </p:txBody>
      </p:sp>
      <p:sp>
        <p:nvSpPr>
          <p:cNvPr id="14" name="Shape 12"/>
          <p:cNvSpPr/>
          <p:nvPr/>
        </p:nvSpPr>
        <p:spPr>
          <a:xfrm>
            <a:off x="548640" y="3977640"/>
            <a:ext cx="5349240" cy="1965960"/>
          </a:xfrm>
          <a:prstGeom prst="roundRect">
            <a:avLst>
              <a:gd name="adj" fmla="val 4186"/>
            </a:avLst>
          </a:prstGeom>
          <a:solidFill>
            <a:srgbClr val="FFFFFF"/>
          </a:solidFill>
          <a:effectLst>
            <a:outerShdw blurRad="88900" dist="25400" dir="5400000" algn="bl" rotWithShape="0">
              <a:srgbClr val="1B2A4A">
                <a:alpha val="15000"/>
              </a:srgbClr>
            </a:outerShdw>
          </a:effectLst>
        </p:spPr>
      </p:sp>
      <p:sp>
        <p:nvSpPr>
          <p:cNvPr id="15" name="Shape 13"/>
          <p:cNvSpPr/>
          <p:nvPr/>
        </p:nvSpPr>
        <p:spPr>
          <a:xfrm>
            <a:off x="804672" y="4206240"/>
            <a:ext cx="457200" cy="457200"/>
          </a:xfrm>
          <a:prstGeom prst="roundRect">
            <a:avLst>
              <a:gd name="adj" fmla="val 50000"/>
            </a:avLst>
          </a:prstGeom>
          <a:solidFill>
            <a:srgbClr val="C0392B"/>
          </a:solidFill>
        </p:spPr>
      </p:sp>
      <p:sp>
        <p:nvSpPr>
          <p:cNvPr id="16" name="Text 14"/>
          <p:cNvSpPr/>
          <p:nvPr/>
        </p:nvSpPr>
        <p:spPr>
          <a:xfrm>
            <a:off x="804672" y="4206240"/>
            <a:ext cx="457200" cy="45720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7" name="Text 15"/>
          <p:cNvSpPr/>
          <p:nvPr/>
        </p:nvSpPr>
        <p:spPr>
          <a:xfrm>
            <a:off x="1417320" y="4178808"/>
            <a:ext cx="4251960" cy="365760"/>
          </a:xfrm>
          <a:prstGeom prst="rect">
            <a:avLst/>
          </a:prstGeom>
          <a:noFill/>
        </p:spPr>
        <p:txBody>
          <a:bodyPr wrap="square" rtlCol="0" anchor="ctr"/>
          <a:lstStyle/>
          <a:p>
            <a:pPr marL="0" indent="0">
              <a:buNone/>
            </a:pPr>
            <a:r>
              <a:rPr lang="en-US" sz="1550" b="1" dirty="0">
                <a:solidFill>
                  <a:srgbClr val="101B33"/>
                </a:solidFill>
                <a:latin typeface="Calibri" panose="020F0502020204030204" pitchFamily="34" charset="0"/>
                <a:ea typeface="Calibri" panose="020F0502020204030204" pitchFamily="34" charset="-122"/>
                <a:cs typeface="Calibri" panose="020F0502020204030204" pitchFamily="34" charset="-120"/>
              </a:rPr>
              <a:t>Our Objective</a:t>
            </a:r>
            <a:endParaRPr lang="en-US" sz="1550" dirty="0"/>
          </a:p>
        </p:txBody>
      </p:sp>
      <p:sp>
        <p:nvSpPr>
          <p:cNvPr id="18" name="Text 16"/>
          <p:cNvSpPr/>
          <p:nvPr/>
        </p:nvSpPr>
        <p:spPr>
          <a:xfrm>
            <a:off x="841248" y="4754880"/>
            <a:ext cx="4800600" cy="1051560"/>
          </a:xfrm>
          <a:prstGeom prst="rect">
            <a:avLst/>
          </a:prstGeom>
          <a:noFill/>
        </p:spPr>
        <p:txBody>
          <a:bodyPr wrap="square" rtlCol="0" anchor="t"/>
          <a:lstStyle/>
          <a:p>
            <a:pPr marL="0" indent="0">
              <a:lnSpc>
                <a:spcPct val="120000"/>
              </a:lnSpc>
              <a:buNone/>
            </a:pPr>
            <a:r>
              <a:rPr lang="en-US" sz="1200" dirty="0">
                <a:solidFill>
                  <a:srgbClr val="4A4A58"/>
                </a:solidFill>
                <a:latin typeface="Calibri" panose="020F0502020204030204" pitchFamily="34" charset="0"/>
                <a:ea typeface="Calibri" panose="020F0502020204030204" pitchFamily="34" charset="-122"/>
                <a:cs typeface="Calibri" panose="020F0502020204030204" pitchFamily="34" charset="-120"/>
              </a:rPr>
              <a:t>Build a DSA-driven engine that parses résumés, models candidate and job profiles, and computes compatibility scores efficiently.</a:t>
            </a:r>
            <a:endParaRPr lang="en-US" sz="1200" dirty="0"/>
          </a:p>
        </p:txBody>
      </p:sp>
      <p:sp>
        <p:nvSpPr>
          <p:cNvPr id="19" name="Shape 17"/>
          <p:cNvSpPr/>
          <p:nvPr/>
        </p:nvSpPr>
        <p:spPr>
          <a:xfrm>
            <a:off x="6217920" y="3977640"/>
            <a:ext cx="5349240" cy="1965960"/>
          </a:xfrm>
          <a:prstGeom prst="roundRect">
            <a:avLst>
              <a:gd name="adj" fmla="val 4186"/>
            </a:avLst>
          </a:prstGeom>
          <a:solidFill>
            <a:srgbClr val="FFFFFF"/>
          </a:solidFill>
          <a:effectLst>
            <a:outerShdw blurRad="88900" dist="25400" dir="5400000" algn="bl" rotWithShape="0">
              <a:srgbClr val="1B2A4A">
                <a:alpha val="15000"/>
              </a:srgbClr>
            </a:outerShdw>
          </a:effectLst>
        </p:spPr>
      </p:sp>
      <p:sp>
        <p:nvSpPr>
          <p:cNvPr id="20" name="Shape 18"/>
          <p:cNvSpPr/>
          <p:nvPr/>
        </p:nvSpPr>
        <p:spPr>
          <a:xfrm>
            <a:off x="6473952" y="4206240"/>
            <a:ext cx="457200" cy="457200"/>
          </a:xfrm>
          <a:prstGeom prst="roundRect">
            <a:avLst>
              <a:gd name="adj" fmla="val 50000"/>
            </a:avLst>
          </a:prstGeom>
          <a:solidFill>
            <a:srgbClr val="3F3D9E"/>
          </a:solidFill>
        </p:spPr>
      </p:sp>
      <p:sp>
        <p:nvSpPr>
          <p:cNvPr id="21" name="Text 19"/>
          <p:cNvSpPr/>
          <p:nvPr/>
        </p:nvSpPr>
        <p:spPr>
          <a:xfrm>
            <a:off x="6473952" y="4206240"/>
            <a:ext cx="457200" cy="45720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22" name="Text 20"/>
          <p:cNvSpPr/>
          <p:nvPr/>
        </p:nvSpPr>
        <p:spPr>
          <a:xfrm>
            <a:off x="7086600" y="4178808"/>
            <a:ext cx="4251960" cy="365760"/>
          </a:xfrm>
          <a:prstGeom prst="rect">
            <a:avLst/>
          </a:prstGeom>
          <a:noFill/>
        </p:spPr>
        <p:txBody>
          <a:bodyPr wrap="square" rtlCol="0" anchor="ctr"/>
          <a:lstStyle/>
          <a:p>
            <a:pPr marL="0" indent="0">
              <a:buNone/>
            </a:pPr>
            <a:r>
              <a:rPr lang="en-US" sz="1550" b="1" dirty="0">
                <a:solidFill>
                  <a:srgbClr val="101B33"/>
                </a:solidFill>
                <a:latin typeface="Calibri" panose="020F0502020204030204" pitchFamily="34" charset="0"/>
                <a:ea typeface="Calibri" panose="020F0502020204030204" pitchFamily="34" charset="-122"/>
                <a:cs typeface="Calibri" panose="020F0502020204030204" pitchFamily="34" charset="-120"/>
              </a:rPr>
              <a:t>Our Scope</a:t>
            </a:r>
            <a:endParaRPr lang="en-US" sz="1550" dirty="0"/>
          </a:p>
        </p:txBody>
      </p:sp>
      <p:sp>
        <p:nvSpPr>
          <p:cNvPr id="23" name="Text 21"/>
          <p:cNvSpPr/>
          <p:nvPr/>
        </p:nvSpPr>
        <p:spPr>
          <a:xfrm>
            <a:off x="6510528" y="4754880"/>
            <a:ext cx="4800600" cy="1051560"/>
          </a:xfrm>
          <a:prstGeom prst="rect">
            <a:avLst/>
          </a:prstGeom>
          <a:noFill/>
        </p:spPr>
        <p:txBody>
          <a:bodyPr wrap="square" rtlCol="0" anchor="t"/>
          <a:lstStyle/>
          <a:p>
            <a:pPr marL="0" indent="0">
              <a:lnSpc>
                <a:spcPct val="120000"/>
              </a:lnSpc>
              <a:buNone/>
            </a:pPr>
            <a:r>
              <a:rPr lang="en-US" sz="1200" dirty="0">
                <a:solidFill>
                  <a:srgbClr val="4A4A58"/>
                </a:solidFill>
                <a:latin typeface="Calibri" panose="020F0502020204030204" pitchFamily="34" charset="0"/>
                <a:ea typeface="Calibri" panose="020F0502020204030204" pitchFamily="34" charset="-122"/>
                <a:cs typeface="Calibri" panose="020F0502020204030204" pitchFamily="34" charset="-120"/>
              </a:rPr>
              <a:t>A unified marketplace where job seekers get better-matched opportunities and employers get ranked, relevant candidate pools.</a:t>
            </a:r>
            <a:endParaRPr lang="en-US" sz="1200" dirty="0"/>
          </a:p>
        </p:txBody>
      </p:sp>
      <p:sp>
        <p:nvSpPr>
          <p:cNvPr id="24" name="Text 22"/>
          <p:cNvSpPr/>
          <p:nvPr/>
        </p:nvSpPr>
        <p:spPr>
          <a:xfrm>
            <a:off x="365760" y="6473952"/>
            <a:ext cx="7315200" cy="274320"/>
          </a:xfrm>
          <a:prstGeom prst="rect">
            <a:avLst/>
          </a:prstGeom>
          <a:noFill/>
        </p:spPr>
        <p:txBody>
          <a:bodyPr wrap="square" rtlCol="0" anchor="ctr"/>
          <a:lstStyle/>
          <a:p>
            <a:pPr marL="0" indent="0">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Resume–Job Matching &amp; Talent-Marketplace Engine</a:t>
            </a:r>
            <a:endParaRPr lang="en-US" sz="900" dirty="0"/>
          </a:p>
        </p:txBody>
      </p:sp>
      <p:sp>
        <p:nvSpPr>
          <p:cNvPr id="25" name="Text 23"/>
          <p:cNvSpPr/>
          <p:nvPr/>
        </p:nvSpPr>
        <p:spPr>
          <a:xfrm>
            <a:off x="11365992" y="6473952"/>
            <a:ext cx="457200" cy="274320"/>
          </a:xfrm>
          <a:prstGeom prst="rect">
            <a:avLst/>
          </a:prstGeom>
          <a:noFill/>
        </p:spPr>
        <p:txBody>
          <a:bodyPr wrap="square" rtlCol="0" anchor="ctr"/>
          <a:lstStyle/>
          <a:p>
            <a:pPr marL="0" indent="0" algn="r">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5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300" b="1" kern="0" spc="200" dirty="0">
                <a:solidFill>
                  <a:srgbClr val="C0392B"/>
                </a:solidFill>
                <a:latin typeface="Calibri" panose="020F0502020204030204" pitchFamily="34" charset="0"/>
                <a:ea typeface="Calibri" panose="020F0502020204030204" pitchFamily="34" charset="-122"/>
                <a:cs typeface="Calibri" panose="020F0502020204030204" pitchFamily="34" charset="-120"/>
              </a:rPr>
              <a:t>RELATED WORK</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01B33"/>
                </a:solidFill>
                <a:latin typeface="Calibri" panose="020F0502020204030204" pitchFamily="34" charset="0"/>
                <a:ea typeface="Calibri" panose="020F0502020204030204" pitchFamily="34" charset="-122"/>
                <a:cs typeface="Calibri" panose="020F0502020204030204" pitchFamily="34" charset="-120"/>
              </a:rPr>
              <a:t>Literature Survey</a:t>
            </a:r>
            <a:endParaRPr lang="en-US" sz="3000" dirty="0"/>
          </a:p>
        </p:txBody>
      </p:sp>
      <p:sp>
        <p:nvSpPr>
          <p:cNvPr id="4" name="Shape 2"/>
          <p:cNvSpPr/>
          <p:nvPr/>
        </p:nvSpPr>
        <p:spPr>
          <a:xfrm>
            <a:off x="548640" y="1691640"/>
            <a:ext cx="11064240" cy="886968"/>
          </a:xfrm>
          <a:prstGeom prst="roundRect">
            <a:avLst>
              <a:gd name="adj" fmla="val 7216"/>
            </a:avLst>
          </a:prstGeom>
          <a:solidFill>
            <a:srgbClr val="FFFFFF"/>
          </a:solidFill>
          <a:effectLst>
            <a:outerShdw blurRad="76200" dist="25400" dir="5400000" algn="bl" rotWithShape="0">
              <a:srgbClr val="1B2A4A">
                <a:alpha val="12000"/>
              </a:srgbClr>
            </a:outerShdw>
          </a:effectLst>
        </p:spPr>
      </p:sp>
      <p:sp>
        <p:nvSpPr>
          <p:cNvPr id="5" name="Shape 3"/>
          <p:cNvSpPr/>
          <p:nvPr/>
        </p:nvSpPr>
        <p:spPr>
          <a:xfrm>
            <a:off x="685800" y="1988820"/>
            <a:ext cx="292608" cy="292608"/>
          </a:xfrm>
          <a:prstGeom prst="roundRect">
            <a:avLst>
              <a:gd name="adj" fmla="val 50000"/>
            </a:avLst>
          </a:prstGeom>
          <a:solidFill>
            <a:srgbClr val="1B2A4A"/>
          </a:solidFill>
        </p:spPr>
      </p:sp>
      <p:sp>
        <p:nvSpPr>
          <p:cNvPr id="6" name="Text 4"/>
          <p:cNvSpPr/>
          <p:nvPr/>
        </p:nvSpPr>
        <p:spPr>
          <a:xfrm>
            <a:off x="685800" y="1988820"/>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7" name="Text 5"/>
          <p:cNvSpPr/>
          <p:nvPr/>
        </p:nvSpPr>
        <p:spPr>
          <a:xfrm>
            <a:off x="1143000" y="1764792"/>
            <a:ext cx="3246120" cy="731520"/>
          </a:xfrm>
          <a:prstGeom prst="rect">
            <a:avLst/>
          </a:prstGeom>
          <a:noFill/>
        </p:spPr>
        <p:txBody>
          <a:bodyPr wrap="square" rtlCol="0" anchor="ctr"/>
          <a:lstStyle/>
          <a:p>
            <a:pPr marL="0" indent="0">
              <a:lnSpc>
                <a:spcPct val="110000"/>
              </a:lnSpc>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Keyword-based ATS (e.g. traditional Applicant Tracking Systems)</a:t>
            </a:r>
            <a:endParaRPr lang="en-US" sz="1150" dirty="0"/>
          </a:p>
        </p:txBody>
      </p:sp>
      <p:sp>
        <p:nvSpPr>
          <p:cNvPr id="8" name="Text 6"/>
          <p:cNvSpPr/>
          <p:nvPr/>
        </p:nvSpPr>
        <p:spPr>
          <a:xfrm>
            <a:off x="4526280" y="1764792"/>
            <a:ext cx="3520440" cy="731520"/>
          </a:xfrm>
          <a:prstGeom prst="rect">
            <a:avLst/>
          </a:prstGeom>
          <a:noFill/>
        </p:spPr>
        <p:txBody>
          <a:bodyPr wrap="square" rtlCol="0" anchor="ctr"/>
          <a:lstStyle/>
          <a:p>
            <a:pPr marL="0" indent="0">
              <a:lnSpc>
                <a:spcPct val="110000"/>
              </a:lnSpc>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Simple string/keyword matching between résumé and job description</a:t>
            </a:r>
            <a:endParaRPr lang="en-US" sz="1100" dirty="0"/>
          </a:p>
        </p:txBody>
      </p:sp>
      <p:sp>
        <p:nvSpPr>
          <p:cNvPr id="9" name="Text 7"/>
          <p:cNvSpPr/>
          <p:nvPr/>
        </p:nvSpPr>
        <p:spPr>
          <a:xfrm>
            <a:off x="8183880" y="1764792"/>
            <a:ext cx="3246120" cy="731520"/>
          </a:xfrm>
          <a:prstGeom prst="rect">
            <a:avLst/>
          </a:prstGeom>
          <a:noFill/>
        </p:spPr>
        <p:txBody>
          <a:bodyPr wrap="square" rtlCol="0" anchor="ctr"/>
          <a:lstStyle/>
          <a:p>
            <a:pPr marL="0" indent="0">
              <a:lnSpc>
                <a:spcPct val="110000"/>
              </a:lnSpc>
              <a:buNone/>
            </a:pPr>
            <a:r>
              <a:rPr lang="en-US" sz="1100" i="1" dirty="0">
                <a:solidFill>
                  <a:srgbClr val="C0392B"/>
                </a:solidFill>
                <a:latin typeface="Calibri" panose="020F0502020204030204" pitchFamily="34" charset="0"/>
                <a:ea typeface="Calibri" panose="020F0502020204030204" pitchFamily="34" charset="-122"/>
                <a:cs typeface="Calibri" panose="020F0502020204030204" pitchFamily="34" charset="-120"/>
              </a:rPr>
              <a:t>Misses contextual meaning; high false-negative rate for synonyms &amp; related skills</a:t>
            </a:r>
            <a:endParaRPr lang="en-US" sz="1100" dirty="0"/>
          </a:p>
        </p:txBody>
      </p:sp>
      <p:sp>
        <p:nvSpPr>
          <p:cNvPr id="10" name="Shape 8"/>
          <p:cNvSpPr/>
          <p:nvPr/>
        </p:nvSpPr>
        <p:spPr>
          <a:xfrm>
            <a:off x="548640" y="2715768"/>
            <a:ext cx="11064240" cy="886968"/>
          </a:xfrm>
          <a:prstGeom prst="roundRect">
            <a:avLst>
              <a:gd name="adj" fmla="val 7216"/>
            </a:avLst>
          </a:prstGeom>
          <a:solidFill>
            <a:srgbClr val="FFFFFF"/>
          </a:solidFill>
          <a:effectLst>
            <a:outerShdw blurRad="76200" dist="25400" dir="5400000" algn="bl" rotWithShape="0">
              <a:srgbClr val="1B2A4A">
                <a:alpha val="12000"/>
              </a:srgbClr>
            </a:outerShdw>
          </a:effectLst>
        </p:spPr>
      </p:sp>
      <p:sp>
        <p:nvSpPr>
          <p:cNvPr id="11" name="Shape 9"/>
          <p:cNvSpPr/>
          <p:nvPr/>
        </p:nvSpPr>
        <p:spPr>
          <a:xfrm>
            <a:off x="685800" y="3012948"/>
            <a:ext cx="292608" cy="292608"/>
          </a:xfrm>
          <a:prstGeom prst="roundRect">
            <a:avLst>
              <a:gd name="adj" fmla="val 50000"/>
            </a:avLst>
          </a:prstGeom>
          <a:solidFill>
            <a:srgbClr val="3F3D9E"/>
          </a:solidFill>
        </p:spPr>
      </p:sp>
      <p:sp>
        <p:nvSpPr>
          <p:cNvPr id="12" name="Text 10"/>
          <p:cNvSpPr/>
          <p:nvPr/>
        </p:nvSpPr>
        <p:spPr>
          <a:xfrm>
            <a:off x="685800" y="3012948"/>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3" name="Text 11"/>
          <p:cNvSpPr/>
          <p:nvPr/>
        </p:nvSpPr>
        <p:spPr>
          <a:xfrm>
            <a:off x="1143000" y="2788920"/>
            <a:ext cx="3246120" cy="731520"/>
          </a:xfrm>
          <a:prstGeom prst="rect">
            <a:avLst/>
          </a:prstGeom>
          <a:noFill/>
        </p:spPr>
        <p:txBody>
          <a:bodyPr wrap="square" rtlCol="0" anchor="ctr"/>
          <a:lstStyle/>
          <a:p>
            <a:pPr marL="0" indent="0">
              <a:lnSpc>
                <a:spcPct val="110000"/>
              </a:lnSpc>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NLP-based resume parsers (spaCy / NLTK research models)</a:t>
            </a:r>
            <a:endParaRPr lang="en-US" sz="1150" dirty="0"/>
          </a:p>
        </p:txBody>
      </p:sp>
      <p:sp>
        <p:nvSpPr>
          <p:cNvPr id="14" name="Text 12"/>
          <p:cNvSpPr/>
          <p:nvPr/>
        </p:nvSpPr>
        <p:spPr>
          <a:xfrm>
            <a:off x="4526280" y="2788920"/>
            <a:ext cx="3520440" cy="731520"/>
          </a:xfrm>
          <a:prstGeom prst="rect">
            <a:avLst/>
          </a:prstGeom>
          <a:noFill/>
        </p:spPr>
        <p:txBody>
          <a:bodyPr wrap="square" rtlCol="0" anchor="ctr"/>
          <a:lstStyle/>
          <a:p>
            <a:pPr marL="0" indent="0">
              <a:lnSpc>
                <a:spcPct val="110000"/>
              </a:lnSpc>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Named-entity recognition to extract skills, education and experience</a:t>
            </a:r>
            <a:endParaRPr lang="en-US" sz="1100" dirty="0"/>
          </a:p>
        </p:txBody>
      </p:sp>
      <p:sp>
        <p:nvSpPr>
          <p:cNvPr id="15" name="Text 13"/>
          <p:cNvSpPr/>
          <p:nvPr/>
        </p:nvSpPr>
        <p:spPr>
          <a:xfrm>
            <a:off x="8183880" y="2788920"/>
            <a:ext cx="3246120" cy="731520"/>
          </a:xfrm>
          <a:prstGeom prst="rect">
            <a:avLst/>
          </a:prstGeom>
          <a:noFill/>
        </p:spPr>
        <p:txBody>
          <a:bodyPr wrap="square" rtlCol="0" anchor="ctr"/>
          <a:lstStyle/>
          <a:p>
            <a:pPr marL="0" indent="0">
              <a:lnSpc>
                <a:spcPct val="110000"/>
              </a:lnSpc>
              <a:buNone/>
            </a:pPr>
            <a:r>
              <a:rPr lang="en-US" sz="1100" i="1" dirty="0">
                <a:solidFill>
                  <a:srgbClr val="C0392B"/>
                </a:solidFill>
                <a:latin typeface="Calibri" panose="020F0502020204030204" pitchFamily="34" charset="0"/>
                <a:ea typeface="Calibri" panose="020F0502020204030204" pitchFamily="34" charset="-122"/>
                <a:cs typeface="Calibri" panose="020F0502020204030204" pitchFamily="34" charset="-120"/>
              </a:rPr>
              <a:t>Accuracy depends heavily on résumé formatting; struggles with unstructured layouts</a:t>
            </a:r>
            <a:endParaRPr lang="en-US" sz="1100" dirty="0"/>
          </a:p>
        </p:txBody>
      </p:sp>
      <p:sp>
        <p:nvSpPr>
          <p:cNvPr id="16" name="Shape 14"/>
          <p:cNvSpPr/>
          <p:nvPr/>
        </p:nvSpPr>
        <p:spPr>
          <a:xfrm>
            <a:off x="548640" y="3739896"/>
            <a:ext cx="11064240" cy="886968"/>
          </a:xfrm>
          <a:prstGeom prst="roundRect">
            <a:avLst>
              <a:gd name="adj" fmla="val 7216"/>
            </a:avLst>
          </a:prstGeom>
          <a:solidFill>
            <a:srgbClr val="FFFFFF"/>
          </a:solidFill>
          <a:effectLst>
            <a:outerShdw blurRad="76200" dist="25400" dir="5400000" algn="bl" rotWithShape="0">
              <a:srgbClr val="1B2A4A">
                <a:alpha val="12000"/>
              </a:srgbClr>
            </a:outerShdw>
          </a:effectLst>
        </p:spPr>
      </p:sp>
      <p:sp>
        <p:nvSpPr>
          <p:cNvPr id="17" name="Shape 15"/>
          <p:cNvSpPr/>
          <p:nvPr/>
        </p:nvSpPr>
        <p:spPr>
          <a:xfrm>
            <a:off x="685800" y="4037076"/>
            <a:ext cx="292608" cy="292608"/>
          </a:xfrm>
          <a:prstGeom prst="roundRect">
            <a:avLst>
              <a:gd name="adj" fmla="val 50000"/>
            </a:avLst>
          </a:prstGeom>
          <a:solidFill>
            <a:srgbClr val="1B2A4A"/>
          </a:solidFill>
        </p:spPr>
      </p:sp>
      <p:sp>
        <p:nvSpPr>
          <p:cNvPr id="18" name="Text 16"/>
          <p:cNvSpPr/>
          <p:nvPr/>
        </p:nvSpPr>
        <p:spPr>
          <a:xfrm>
            <a:off x="685800" y="4037076"/>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19" name="Text 17"/>
          <p:cNvSpPr/>
          <p:nvPr/>
        </p:nvSpPr>
        <p:spPr>
          <a:xfrm>
            <a:off x="1143000" y="3813048"/>
            <a:ext cx="3246120" cy="731520"/>
          </a:xfrm>
          <a:prstGeom prst="rect">
            <a:avLst/>
          </a:prstGeom>
          <a:noFill/>
        </p:spPr>
        <p:txBody>
          <a:bodyPr wrap="square" rtlCol="0" anchor="ctr"/>
          <a:lstStyle/>
          <a:p>
            <a:pPr marL="0" indent="0">
              <a:lnSpc>
                <a:spcPct val="110000"/>
              </a:lnSpc>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Recommendation-system approaches (collaborative &amp; content-based filtering)</a:t>
            </a:r>
            <a:endParaRPr lang="en-US" sz="1150" dirty="0"/>
          </a:p>
        </p:txBody>
      </p:sp>
      <p:sp>
        <p:nvSpPr>
          <p:cNvPr id="20" name="Text 18"/>
          <p:cNvSpPr/>
          <p:nvPr/>
        </p:nvSpPr>
        <p:spPr>
          <a:xfrm>
            <a:off x="4526280" y="3813048"/>
            <a:ext cx="3520440" cy="731520"/>
          </a:xfrm>
          <a:prstGeom prst="rect">
            <a:avLst/>
          </a:prstGeom>
          <a:noFill/>
        </p:spPr>
        <p:txBody>
          <a:bodyPr wrap="square" rtlCol="0" anchor="ctr"/>
          <a:lstStyle/>
          <a:p>
            <a:pPr marL="0" indent="0">
              <a:lnSpc>
                <a:spcPct val="110000"/>
              </a:lnSpc>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Content similarity (cosine similarity, TF-IDF) to rank candidate–job fit</a:t>
            </a:r>
            <a:endParaRPr lang="en-US" sz="1100" dirty="0"/>
          </a:p>
        </p:txBody>
      </p:sp>
      <p:sp>
        <p:nvSpPr>
          <p:cNvPr id="21" name="Text 19"/>
          <p:cNvSpPr/>
          <p:nvPr/>
        </p:nvSpPr>
        <p:spPr>
          <a:xfrm>
            <a:off x="8183880" y="3813048"/>
            <a:ext cx="3246120" cy="731520"/>
          </a:xfrm>
          <a:prstGeom prst="rect">
            <a:avLst/>
          </a:prstGeom>
          <a:noFill/>
        </p:spPr>
        <p:txBody>
          <a:bodyPr wrap="square" rtlCol="0" anchor="ctr"/>
          <a:lstStyle/>
          <a:p>
            <a:pPr marL="0" indent="0">
              <a:lnSpc>
                <a:spcPct val="110000"/>
              </a:lnSpc>
              <a:buNone/>
            </a:pPr>
            <a:r>
              <a:rPr lang="en-US" sz="1100" i="1" dirty="0">
                <a:solidFill>
                  <a:srgbClr val="C0392B"/>
                </a:solidFill>
                <a:latin typeface="Calibri" panose="020F0502020204030204" pitchFamily="34" charset="0"/>
                <a:ea typeface="Calibri" panose="020F0502020204030204" pitchFamily="34" charset="-122"/>
                <a:cs typeface="Calibri" panose="020F0502020204030204" pitchFamily="34" charset="-120"/>
              </a:rPr>
              <a:t>Cold-start problem for new users; limited explainability of scores</a:t>
            </a:r>
            <a:endParaRPr lang="en-US" sz="1100" dirty="0"/>
          </a:p>
        </p:txBody>
      </p:sp>
      <p:sp>
        <p:nvSpPr>
          <p:cNvPr id="22" name="Shape 20"/>
          <p:cNvSpPr/>
          <p:nvPr/>
        </p:nvSpPr>
        <p:spPr>
          <a:xfrm>
            <a:off x="548640" y="4764024"/>
            <a:ext cx="11064240" cy="886968"/>
          </a:xfrm>
          <a:prstGeom prst="roundRect">
            <a:avLst>
              <a:gd name="adj" fmla="val 7216"/>
            </a:avLst>
          </a:prstGeom>
          <a:solidFill>
            <a:srgbClr val="FFFFFF"/>
          </a:solidFill>
          <a:effectLst>
            <a:outerShdw blurRad="76200" dist="25400" dir="5400000" algn="bl" rotWithShape="0">
              <a:srgbClr val="1B2A4A">
                <a:alpha val="12000"/>
              </a:srgbClr>
            </a:outerShdw>
          </a:effectLst>
        </p:spPr>
      </p:sp>
      <p:sp>
        <p:nvSpPr>
          <p:cNvPr id="23" name="Shape 21"/>
          <p:cNvSpPr/>
          <p:nvPr/>
        </p:nvSpPr>
        <p:spPr>
          <a:xfrm>
            <a:off x="685800" y="5061204"/>
            <a:ext cx="292608" cy="292608"/>
          </a:xfrm>
          <a:prstGeom prst="roundRect">
            <a:avLst>
              <a:gd name="adj" fmla="val 50000"/>
            </a:avLst>
          </a:prstGeom>
          <a:solidFill>
            <a:srgbClr val="3F3D9E"/>
          </a:solidFill>
        </p:spPr>
      </p:sp>
      <p:sp>
        <p:nvSpPr>
          <p:cNvPr id="24" name="Text 22"/>
          <p:cNvSpPr/>
          <p:nvPr/>
        </p:nvSpPr>
        <p:spPr>
          <a:xfrm>
            <a:off x="685800" y="5061204"/>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25" name="Text 23"/>
          <p:cNvSpPr/>
          <p:nvPr/>
        </p:nvSpPr>
        <p:spPr>
          <a:xfrm>
            <a:off x="1143000" y="4837176"/>
            <a:ext cx="3246120" cy="731520"/>
          </a:xfrm>
          <a:prstGeom prst="rect">
            <a:avLst/>
          </a:prstGeom>
          <a:noFill/>
        </p:spPr>
        <p:txBody>
          <a:bodyPr wrap="square" rtlCol="0" anchor="ctr"/>
          <a:lstStyle/>
          <a:p>
            <a:pPr marL="0" indent="0">
              <a:lnSpc>
                <a:spcPct val="110000"/>
              </a:lnSpc>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Graph &amp; hashing based matching studies</a:t>
            </a:r>
            <a:endParaRPr lang="en-US" sz="1150" dirty="0"/>
          </a:p>
        </p:txBody>
      </p:sp>
      <p:sp>
        <p:nvSpPr>
          <p:cNvPr id="26" name="Text 24"/>
          <p:cNvSpPr/>
          <p:nvPr/>
        </p:nvSpPr>
        <p:spPr>
          <a:xfrm>
            <a:off x="4526280" y="4837176"/>
            <a:ext cx="3520440" cy="731520"/>
          </a:xfrm>
          <a:prstGeom prst="rect">
            <a:avLst/>
          </a:prstGeom>
          <a:noFill/>
        </p:spPr>
        <p:txBody>
          <a:bodyPr wrap="square" rtlCol="0" anchor="ctr"/>
          <a:lstStyle/>
          <a:p>
            <a:pPr marL="0" indent="0">
              <a:lnSpc>
                <a:spcPct val="110000"/>
              </a:lnSpc>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Model skills as graph nodes / hash sets for faster intersection &amp; ranking</a:t>
            </a:r>
            <a:endParaRPr lang="en-US" sz="1100" dirty="0"/>
          </a:p>
        </p:txBody>
      </p:sp>
      <p:sp>
        <p:nvSpPr>
          <p:cNvPr id="27" name="Text 25"/>
          <p:cNvSpPr/>
          <p:nvPr/>
        </p:nvSpPr>
        <p:spPr>
          <a:xfrm>
            <a:off x="8183880" y="4837176"/>
            <a:ext cx="3246120" cy="731520"/>
          </a:xfrm>
          <a:prstGeom prst="rect">
            <a:avLst/>
          </a:prstGeom>
          <a:noFill/>
        </p:spPr>
        <p:txBody>
          <a:bodyPr wrap="square" rtlCol="0" anchor="ctr"/>
          <a:lstStyle/>
          <a:p>
            <a:pPr marL="0" indent="0">
              <a:lnSpc>
                <a:spcPct val="110000"/>
              </a:lnSpc>
              <a:buNone/>
            </a:pPr>
            <a:r>
              <a:rPr lang="en-US" sz="1100" i="1" dirty="0">
                <a:solidFill>
                  <a:srgbClr val="C0392B"/>
                </a:solidFill>
                <a:latin typeface="Calibri" panose="020F0502020204030204" pitchFamily="34" charset="0"/>
                <a:ea typeface="Calibri" panose="020F0502020204030204" pitchFamily="34" charset="-122"/>
                <a:cs typeface="Calibri" panose="020F0502020204030204" pitchFamily="34" charset="-120"/>
              </a:rPr>
              <a:t>Higher implementation complexity; needs careful data-structure design</a:t>
            </a:r>
            <a:endParaRPr lang="en-US" sz="1100" dirty="0"/>
          </a:p>
        </p:txBody>
      </p:sp>
      <p:sp>
        <p:nvSpPr>
          <p:cNvPr id="28" name="Text 26"/>
          <p:cNvSpPr/>
          <p:nvPr/>
        </p:nvSpPr>
        <p:spPr>
          <a:xfrm>
            <a:off x="1143000" y="1417320"/>
            <a:ext cx="3246120" cy="256032"/>
          </a:xfrm>
          <a:prstGeom prst="rect">
            <a:avLst/>
          </a:prstGeom>
          <a:noFill/>
        </p:spPr>
        <p:txBody>
          <a:bodyPr wrap="square" rtlCol="0" anchor="ctr"/>
          <a:lstStyle/>
          <a:p>
            <a:pPr marL="0" indent="0">
              <a:buNone/>
            </a:pPr>
            <a:r>
              <a:rPr lang="en-US" sz="1000" b="1" kern="0" spc="100" dirty="0">
                <a:solidFill>
                  <a:srgbClr val="8A93AB"/>
                </a:solidFill>
                <a:latin typeface="Calibri" panose="020F0502020204030204" pitchFamily="34" charset="0"/>
                <a:ea typeface="Calibri" panose="020F0502020204030204" pitchFamily="34" charset="-122"/>
                <a:cs typeface="Calibri" panose="020F0502020204030204" pitchFamily="34" charset="-120"/>
              </a:rPr>
              <a:t>SOURCE / APPROACH</a:t>
            </a:r>
            <a:endParaRPr lang="en-US" sz="1000" dirty="0"/>
          </a:p>
        </p:txBody>
      </p:sp>
      <p:sp>
        <p:nvSpPr>
          <p:cNvPr id="29" name="Text 27"/>
          <p:cNvSpPr/>
          <p:nvPr/>
        </p:nvSpPr>
        <p:spPr>
          <a:xfrm>
            <a:off x="4526280" y="1417320"/>
            <a:ext cx="3520440" cy="256032"/>
          </a:xfrm>
          <a:prstGeom prst="rect">
            <a:avLst/>
          </a:prstGeom>
          <a:noFill/>
        </p:spPr>
        <p:txBody>
          <a:bodyPr wrap="square" rtlCol="0" anchor="ctr"/>
          <a:lstStyle/>
          <a:p>
            <a:pPr marL="0" indent="0">
              <a:buNone/>
            </a:pPr>
            <a:r>
              <a:rPr lang="en-US" sz="1000" b="1" kern="0" spc="100" dirty="0">
                <a:solidFill>
                  <a:srgbClr val="8A93AB"/>
                </a:solidFill>
                <a:latin typeface="Calibri" panose="020F0502020204030204" pitchFamily="34" charset="0"/>
                <a:ea typeface="Calibri" panose="020F0502020204030204" pitchFamily="34" charset="-122"/>
                <a:cs typeface="Calibri" panose="020F0502020204030204" pitchFamily="34" charset="-120"/>
              </a:rPr>
              <a:t>METHOD USED</a:t>
            </a:r>
            <a:endParaRPr lang="en-US" sz="1000" dirty="0"/>
          </a:p>
        </p:txBody>
      </p:sp>
      <p:sp>
        <p:nvSpPr>
          <p:cNvPr id="30" name="Text 28"/>
          <p:cNvSpPr/>
          <p:nvPr/>
        </p:nvSpPr>
        <p:spPr>
          <a:xfrm>
            <a:off x="8183880" y="1417320"/>
            <a:ext cx="3246120" cy="256032"/>
          </a:xfrm>
          <a:prstGeom prst="rect">
            <a:avLst/>
          </a:prstGeom>
          <a:noFill/>
        </p:spPr>
        <p:txBody>
          <a:bodyPr wrap="square" rtlCol="0" anchor="ctr"/>
          <a:lstStyle/>
          <a:p>
            <a:pPr marL="0" indent="0">
              <a:buNone/>
            </a:pPr>
            <a:r>
              <a:rPr lang="en-US" sz="1000" b="1" kern="0" spc="100" dirty="0">
                <a:solidFill>
                  <a:srgbClr val="8A93AB"/>
                </a:solidFill>
                <a:latin typeface="Calibri" panose="020F0502020204030204" pitchFamily="34" charset="0"/>
                <a:ea typeface="Calibri" panose="020F0502020204030204" pitchFamily="34" charset="-122"/>
                <a:cs typeface="Calibri" panose="020F0502020204030204" pitchFamily="34" charset="-120"/>
              </a:rPr>
              <a:t>LIMITATION / GAP</a:t>
            </a:r>
            <a:endParaRPr lang="en-US" sz="1000" dirty="0"/>
          </a:p>
        </p:txBody>
      </p:sp>
      <p:sp>
        <p:nvSpPr>
          <p:cNvPr id="31" name="Text 29"/>
          <p:cNvSpPr/>
          <p:nvPr/>
        </p:nvSpPr>
        <p:spPr>
          <a:xfrm>
            <a:off x="365760" y="6473952"/>
            <a:ext cx="7315200" cy="274320"/>
          </a:xfrm>
          <a:prstGeom prst="rect">
            <a:avLst/>
          </a:prstGeom>
          <a:noFill/>
        </p:spPr>
        <p:txBody>
          <a:bodyPr wrap="square" rtlCol="0" anchor="ctr"/>
          <a:lstStyle/>
          <a:p>
            <a:pPr marL="0" indent="0">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Resume–Job Matching &amp; Talent-Marketplace Engine</a:t>
            </a:r>
            <a:endParaRPr lang="en-US" sz="900" dirty="0"/>
          </a:p>
        </p:txBody>
      </p:sp>
      <p:sp>
        <p:nvSpPr>
          <p:cNvPr id="32" name="Text 30"/>
          <p:cNvSpPr/>
          <p:nvPr/>
        </p:nvSpPr>
        <p:spPr>
          <a:xfrm>
            <a:off x="11365992" y="6473952"/>
            <a:ext cx="457200" cy="274320"/>
          </a:xfrm>
          <a:prstGeom prst="rect">
            <a:avLst/>
          </a:prstGeom>
          <a:noFill/>
        </p:spPr>
        <p:txBody>
          <a:bodyPr wrap="square" rtlCol="0" anchor="ctr"/>
          <a:lstStyle/>
          <a:p>
            <a:pPr marL="0" indent="0" algn="r">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300" b="1" kern="0" spc="200" dirty="0">
                <a:solidFill>
                  <a:srgbClr val="C0392B"/>
                </a:solidFill>
                <a:latin typeface="Calibri" panose="020F0502020204030204" pitchFamily="34" charset="0"/>
                <a:ea typeface="Calibri" panose="020F0502020204030204" pitchFamily="34" charset="-122"/>
                <a:cs typeface="Calibri" panose="020F0502020204030204" pitchFamily="34" charset="-120"/>
              </a:rPr>
              <a:t>SYSTEM REQUIREMENTS</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01B33"/>
                </a:solidFill>
                <a:latin typeface="Calibri" panose="020F0502020204030204" pitchFamily="34" charset="0"/>
                <a:ea typeface="Calibri" panose="020F0502020204030204" pitchFamily="34" charset="-122"/>
                <a:cs typeface="Calibri" panose="020F0502020204030204" pitchFamily="34" charset="-120"/>
              </a:rPr>
              <a:t>Software &amp; Hardware Requirements</a:t>
            </a:r>
            <a:endParaRPr lang="en-US" sz="3000" dirty="0"/>
          </a:p>
        </p:txBody>
      </p:sp>
      <p:sp>
        <p:nvSpPr>
          <p:cNvPr id="4" name="Shape 2"/>
          <p:cNvSpPr/>
          <p:nvPr/>
        </p:nvSpPr>
        <p:spPr>
          <a:xfrm>
            <a:off x="548640" y="1691640"/>
            <a:ext cx="5440680" cy="4480560"/>
          </a:xfrm>
          <a:prstGeom prst="roundRect">
            <a:avLst>
              <a:gd name="adj" fmla="val 2041"/>
            </a:avLst>
          </a:prstGeom>
          <a:solidFill>
            <a:srgbClr val="101B33"/>
          </a:solidFill>
        </p:spPr>
      </p:sp>
      <p:sp>
        <p:nvSpPr>
          <p:cNvPr id="5" name="Text 3"/>
          <p:cNvSpPr/>
          <p:nvPr/>
        </p:nvSpPr>
        <p:spPr>
          <a:xfrm>
            <a:off x="868680" y="1920240"/>
            <a:ext cx="4846320" cy="365760"/>
          </a:xfrm>
          <a:prstGeom prst="rect">
            <a:avLst/>
          </a:prstGeom>
          <a:noFill/>
        </p:spPr>
        <p:txBody>
          <a:bodyPr wrap="square" rtlCol="0" anchor="ctr"/>
          <a:lstStyle/>
          <a:p>
            <a:pPr marL="0" indent="0">
              <a:buNone/>
            </a:pPr>
            <a:r>
              <a:rPr lang="en-US" sz="1500" b="1" kern="0" spc="100" dirty="0">
                <a:solidFill>
                  <a:srgbClr val="C0392B"/>
                </a:solidFill>
                <a:latin typeface="Calibri" panose="020F0502020204030204" pitchFamily="34" charset="0"/>
                <a:ea typeface="Calibri" panose="020F0502020204030204" pitchFamily="34" charset="-122"/>
                <a:cs typeface="Calibri" panose="020F0502020204030204" pitchFamily="34" charset="-120"/>
              </a:rPr>
              <a:t>SOFTWARE REQUIREMENTS</a:t>
            </a:r>
            <a:endParaRPr lang="en-US" sz="1500" dirty="0"/>
          </a:p>
        </p:txBody>
      </p:sp>
      <p:sp>
        <p:nvSpPr>
          <p:cNvPr id="6" name="Text 4"/>
          <p:cNvSpPr/>
          <p:nvPr/>
        </p:nvSpPr>
        <p:spPr>
          <a:xfrm>
            <a:off x="868680" y="2468880"/>
            <a:ext cx="233172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Operating System</a:t>
            </a:r>
            <a:endParaRPr lang="en-US" sz="1150" dirty="0"/>
          </a:p>
        </p:txBody>
      </p:sp>
      <p:sp>
        <p:nvSpPr>
          <p:cNvPr id="7" name="Text 5"/>
          <p:cNvSpPr/>
          <p:nvPr/>
        </p:nvSpPr>
        <p:spPr>
          <a:xfrm>
            <a:off x="3246120" y="2468880"/>
            <a:ext cx="2606040" cy="384048"/>
          </a:xfrm>
          <a:prstGeom prst="rect">
            <a:avLst/>
          </a:prstGeom>
          <a:noFill/>
        </p:spPr>
        <p:txBody>
          <a:bodyPr wrap="square" rtlCol="0" anchor="ctr"/>
          <a:lstStyle/>
          <a:p>
            <a:pPr marL="0" indent="0">
              <a:buNone/>
            </a:pPr>
            <a:r>
              <a:rPr lang="en-US" sz="1100" dirty="0">
                <a:solidFill>
                  <a:srgbClr val="AEB6D6"/>
                </a:solidFill>
                <a:latin typeface="Calibri" panose="020F0502020204030204" pitchFamily="34" charset="0"/>
                <a:ea typeface="Calibri" panose="020F0502020204030204" pitchFamily="34" charset="-122"/>
                <a:cs typeface="Calibri" panose="020F0502020204030204" pitchFamily="34" charset="-120"/>
              </a:rPr>
              <a:t>Windows 10/11 or Linux (Ubuntu 20.04+)</a:t>
            </a:r>
            <a:endParaRPr lang="en-US" sz="1100" dirty="0"/>
          </a:p>
        </p:txBody>
      </p:sp>
      <p:sp>
        <p:nvSpPr>
          <p:cNvPr id="8" name="Text 6"/>
          <p:cNvSpPr/>
          <p:nvPr/>
        </p:nvSpPr>
        <p:spPr>
          <a:xfrm>
            <a:off x="868680" y="2889504"/>
            <a:ext cx="233172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Programming Language</a:t>
            </a:r>
            <a:endParaRPr lang="en-US" sz="1150" dirty="0"/>
          </a:p>
        </p:txBody>
      </p:sp>
      <p:sp>
        <p:nvSpPr>
          <p:cNvPr id="9" name="Text 7"/>
          <p:cNvSpPr/>
          <p:nvPr/>
        </p:nvSpPr>
        <p:spPr>
          <a:xfrm>
            <a:off x="3246120" y="2889504"/>
            <a:ext cx="2606040" cy="384048"/>
          </a:xfrm>
          <a:prstGeom prst="rect">
            <a:avLst/>
          </a:prstGeom>
          <a:noFill/>
        </p:spPr>
        <p:txBody>
          <a:bodyPr wrap="square" rtlCol="0" anchor="ctr"/>
          <a:lstStyle/>
          <a:p>
            <a:pPr marL="0" indent="0">
              <a:buNone/>
            </a:pPr>
            <a:r>
              <a:rPr lang="en-US" sz="1100" dirty="0">
                <a:solidFill>
                  <a:srgbClr val="AEB6D6"/>
                </a:solidFill>
                <a:latin typeface="Calibri" panose="020F0502020204030204" pitchFamily="34" charset="0"/>
                <a:ea typeface="Calibri" panose="020F0502020204030204" pitchFamily="34" charset="-122"/>
                <a:cs typeface="Calibri" panose="020F0502020204030204" pitchFamily="34" charset="-120"/>
              </a:rPr>
              <a:t>Python 3.x</a:t>
            </a:r>
            <a:endParaRPr lang="en-US" sz="1100" dirty="0"/>
          </a:p>
        </p:txBody>
      </p:sp>
      <p:sp>
        <p:nvSpPr>
          <p:cNvPr id="10" name="Text 8"/>
          <p:cNvSpPr/>
          <p:nvPr/>
        </p:nvSpPr>
        <p:spPr>
          <a:xfrm>
            <a:off x="868680" y="3310128"/>
            <a:ext cx="233172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NLP / ML Libraries</a:t>
            </a:r>
            <a:endParaRPr lang="en-US" sz="1150" dirty="0"/>
          </a:p>
        </p:txBody>
      </p:sp>
      <p:sp>
        <p:nvSpPr>
          <p:cNvPr id="11" name="Text 9"/>
          <p:cNvSpPr/>
          <p:nvPr/>
        </p:nvSpPr>
        <p:spPr>
          <a:xfrm>
            <a:off x="3246120" y="3310128"/>
            <a:ext cx="2606040" cy="384048"/>
          </a:xfrm>
          <a:prstGeom prst="rect">
            <a:avLst/>
          </a:prstGeom>
          <a:noFill/>
        </p:spPr>
        <p:txBody>
          <a:bodyPr wrap="square" rtlCol="0" anchor="ctr"/>
          <a:lstStyle/>
          <a:p>
            <a:pPr marL="0" indent="0">
              <a:buNone/>
            </a:pPr>
            <a:r>
              <a:rPr lang="en-US" sz="1100" dirty="0">
                <a:solidFill>
                  <a:srgbClr val="AEB6D6"/>
                </a:solidFill>
                <a:latin typeface="Calibri" panose="020F0502020204030204" pitchFamily="34" charset="0"/>
                <a:ea typeface="Calibri" panose="020F0502020204030204" pitchFamily="34" charset="-122"/>
                <a:cs typeface="Calibri" panose="020F0502020204030204" pitchFamily="34" charset="-120"/>
              </a:rPr>
              <a:t>spaCy, NLTK, scikit-learn</a:t>
            </a:r>
            <a:endParaRPr lang="en-US" sz="1100" dirty="0"/>
          </a:p>
        </p:txBody>
      </p:sp>
      <p:sp>
        <p:nvSpPr>
          <p:cNvPr id="12" name="Text 10"/>
          <p:cNvSpPr/>
          <p:nvPr/>
        </p:nvSpPr>
        <p:spPr>
          <a:xfrm>
            <a:off x="868680" y="3730752"/>
            <a:ext cx="233172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Backend Framework</a:t>
            </a:r>
            <a:endParaRPr lang="en-US" sz="1150" dirty="0"/>
          </a:p>
        </p:txBody>
      </p:sp>
      <p:sp>
        <p:nvSpPr>
          <p:cNvPr id="13" name="Text 11"/>
          <p:cNvSpPr/>
          <p:nvPr/>
        </p:nvSpPr>
        <p:spPr>
          <a:xfrm>
            <a:off x="3246120" y="3730752"/>
            <a:ext cx="2606040" cy="384048"/>
          </a:xfrm>
          <a:prstGeom prst="rect">
            <a:avLst/>
          </a:prstGeom>
          <a:noFill/>
        </p:spPr>
        <p:txBody>
          <a:bodyPr wrap="square" rtlCol="0" anchor="ctr"/>
          <a:lstStyle/>
          <a:p>
            <a:pPr marL="0" indent="0">
              <a:buNone/>
            </a:pPr>
            <a:r>
              <a:rPr lang="en-US" sz="1100" dirty="0">
                <a:solidFill>
                  <a:srgbClr val="AEB6D6"/>
                </a:solidFill>
                <a:latin typeface="Calibri" panose="020F0502020204030204" pitchFamily="34" charset="0"/>
                <a:ea typeface="Calibri" panose="020F0502020204030204" pitchFamily="34" charset="-122"/>
                <a:cs typeface="Calibri" panose="020F0502020204030204" pitchFamily="34" charset="-120"/>
              </a:rPr>
              <a:t>Flask / Django (REST APIs)</a:t>
            </a:r>
            <a:endParaRPr lang="en-US" sz="1100" dirty="0"/>
          </a:p>
        </p:txBody>
      </p:sp>
      <p:sp>
        <p:nvSpPr>
          <p:cNvPr id="14" name="Text 12"/>
          <p:cNvSpPr/>
          <p:nvPr/>
        </p:nvSpPr>
        <p:spPr>
          <a:xfrm>
            <a:off x="868680" y="4151376"/>
            <a:ext cx="233172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Frontend</a:t>
            </a:r>
            <a:endParaRPr lang="en-US" sz="1150" dirty="0"/>
          </a:p>
        </p:txBody>
      </p:sp>
      <p:sp>
        <p:nvSpPr>
          <p:cNvPr id="15" name="Text 13"/>
          <p:cNvSpPr/>
          <p:nvPr/>
        </p:nvSpPr>
        <p:spPr>
          <a:xfrm>
            <a:off x="3246120" y="4151376"/>
            <a:ext cx="2606040" cy="384048"/>
          </a:xfrm>
          <a:prstGeom prst="rect">
            <a:avLst/>
          </a:prstGeom>
          <a:noFill/>
        </p:spPr>
        <p:txBody>
          <a:bodyPr wrap="square" rtlCol="0" anchor="ctr"/>
          <a:lstStyle/>
          <a:p>
            <a:pPr marL="0" indent="0">
              <a:buNone/>
            </a:pPr>
            <a:r>
              <a:rPr lang="en-US" sz="1100" dirty="0">
                <a:solidFill>
                  <a:srgbClr val="AEB6D6"/>
                </a:solidFill>
                <a:latin typeface="Calibri" panose="020F0502020204030204" pitchFamily="34" charset="0"/>
                <a:ea typeface="Calibri" panose="020F0502020204030204" pitchFamily="34" charset="-122"/>
                <a:cs typeface="Calibri" panose="020F0502020204030204" pitchFamily="34" charset="-120"/>
              </a:rPr>
              <a:t>HTML5, CSS3, JavaScript / React</a:t>
            </a:r>
            <a:endParaRPr lang="en-US" sz="1100" dirty="0"/>
          </a:p>
        </p:txBody>
      </p:sp>
      <p:sp>
        <p:nvSpPr>
          <p:cNvPr id="16" name="Text 14"/>
          <p:cNvSpPr/>
          <p:nvPr/>
        </p:nvSpPr>
        <p:spPr>
          <a:xfrm>
            <a:off x="868680" y="4572000"/>
            <a:ext cx="233172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Database</a:t>
            </a:r>
            <a:endParaRPr lang="en-US" sz="1150" dirty="0"/>
          </a:p>
        </p:txBody>
      </p:sp>
      <p:sp>
        <p:nvSpPr>
          <p:cNvPr id="17" name="Text 15"/>
          <p:cNvSpPr/>
          <p:nvPr/>
        </p:nvSpPr>
        <p:spPr>
          <a:xfrm>
            <a:off x="3246120" y="4572000"/>
            <a:ext cx="2606040" cy="384048"/>
          </a:xfrm>
          <a:prstGeom prst="rect">
            <a:avLst/>
          </a:prstGeom>
          <a:noFill/>
        </p:spPr>
        <p:txBody>
          <a:bodyPr wrap="square" rtlCol="0" anchor="ctr"/>
          <a:lstStyle/>
          <a:p>
            <a:pPr marL="0" indent="0">
              <a:buNone/>
            </a:pPr>
            <a:r>
              <a:rPr lang="en-US" sz="1100" dirty="0">
                <a:solidFill>
                  <a:srgbClr val="AEB6D6"/>
                </a:solidFill>
                <a:latin typeface="Calibri" panose="020F0502020204030204" pitchFamily="34" charset="0"/>
                <a:ea typeface="Calibri" panose="020F0502020204030204" pitchFamily="34" charset="-122"/>
                <a:cs typeface="Calibri" panose="020F0502020204030204" pitchFamily="34" charset="-120"/>
              </a:rPr>
              <a:t>MySQL / MongoDB</a:t>
            </a:r>
            <a:endParaRPr lang="en-US" sz="1100" dirty="0"/>
          </a:p>
        </p:txBody>
      </p:sp>
      <p:sp>
        <p:nvSpPr>
          <p:cNvPr id="18" name="Text 16"/>
          <p:cNvSpPr/>
          <p:nvPr/>
        </p:nvSpPr>
        <p:spPr>
          <a:xfrm>
            <a:off x="868680" y="4992624"/>
            <a:ext cx="233172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IDE / Tools</a:t>
            </a:r>
            <a:endParaRPr lang="en-US" sz="1150" dirty="0"/>
          </a:p>
        </p:txBody>
      </p:sp>
      <p:sp>
        <p:nvSpPr>
          <p:cNvPr id="19" name="Text 17"/>
          <p:cNvSpPr/>
          <p:nvPr/>
        </p:nvSpPr>
        <p:spPr>
          <a:xfrm>
            <a:off x="3246120" y="4992624"/>
            <a:ext cx="2606040" cy="384048"/>
          </a:xfrm>
          <a:prstGeom prst="rect">
            <a:avLst/>
          </a:prstGeom>
          <a:noFill/>
        </p:spPr>
        <p:txBody>
          <a:bodyPr wrap="square" rtlCol="0" anchor="ctr"/>
          <a:lstStyle/>
          <a:p>
            <a:pPr marL="0" indent="0">
              <a:buNone/>
            </a:pPr>
            <a:r>
              <a:rPr lang="en-US" sz="1100" dirty="0">
                <a:solidFill>
                  <a:srgbClr val="AEB6D6"/>
                </a:solidFill>
                <a:latin typeface="Calibri" panose="020F0502020204030204" pitchFamily="34" charset="0"/>
                <a:ea typeface="Calibri" panose="020F0502020204030204" pitchFamily="34" charset="-122"/>
                <a:cs typeface="Calibri" panose="020F0502020204030204" pitchFamily="34" charset="-120"/>
              </a:rPr>
              <a:t>VS Code, Jupyter Notebook, Git &amp; GitHub</a:t>
            </a:r>
            <a:endParaRPr lang="en-US" sz="1100" dirty="0"/>
          </a:p>
        </p:txBody>
      </p:sp>
      <p:sp>
        <p:nvSpPr>
          <p:cNvPr id="20" name="Shape 18"/>
          <p:cNvSpPr/>
          <p:nvPr/>
        </p:nvSpPr>
        <p:spPr>
          <a:xfrm>
            <a:off x="6217920" y="1691640"/>
            <a:ext cx="5440680" cy="4480560"/>
          </a:xfrm>
          <a:prstGeom prst="roundRect">
            <a:avLst>
              <a:gd name="adj" fmla="val 2041"/>
            </a:avLst>
          </a:prstGeom>
          <a:solidFill>
            <a:srgbClr val="FFFFFF"/>
          </a:solidFill>
          <a:effectLst>
            <a:outerShdw blurRad="88900" dist="25400" dir="5400000" algn="bl" rotWithShape="0">
              <a:srgbClr val="1B2A4A">
                <a:alpha val="15000"/>
              </a:srgbClr>
            </a:outerShdw>
          </a:effectLst>
        </p:spPr>
      </p:sp>
      <p:sp>
        <p:nvSpPr>
          <p:cNvPr id="21" name="Text 19"/>
          <p:cNvSpPr/>
          <p:nvPr/>
        </p:nvSpPr>
        <p:spPr>
          <a:xfrm>
            <a:off x="6537960" y="1920240"/>
            <a:ext cx="4846320" cy="365760"/>
          </a:xfrm>
          <a:prstGeom prst="rect">
            <a:avLst/>
          </a:prstGeom>
          <a:noFill/>
        </p:spPr>
        <p:txBody>
          <a:bodyPr wrap="square" rtlCol="0" anchor="ctr"/>
          <a:lstStyle/>
          <a:p>
            <a:pPr marL="0" indent="0">
              <a:buNone/>
            </a:pPr>
            <a:r>
              <a:rPr lang="en-US" sz="1500" b="1" kern="0" spc="100" dirty="0">
                <a:solidFill>
                  <a:srgbClr val="3F3D9E"/>
                </a:solidFill>
                <a:latin typeface="Calibri" panose="020F0502020204030204" pitchFamily="34" charset="0"/>
                <a:ea typeface="Calibri" panose="020F0502020204030204" pitchFamily="34" charset="-122"/>
                <a:cs typeface="Calibri" panose="020F0502020204030204" pitchFamily="34" charset="-120"/>
              </a:rPr>
              <a:t>HARDWARE REQUIREMENTS</a:t>
            </a:r>
            <a:endParaRPr lang="en-US" sz="1500" dirty="0"/>
          </a:p>
        </p:txBody>
      </p:sp>
      <p:sp>
        <p:nvSpPr>
          <p:cNvPr id="22" name="Text 20"/>
          <p:cNvSpPr/>
          <p:nvPr/>
        </p:nvSpPr>
        <p:spPr>
          <a:xfrm>
            <a:off x="6537960" y="2468880"/>
            <a:ext cx="2331720" cy="384048"/>
          </a:xfrm>
          <a:prstGeom prst="rect">
            <a:avLst/>
          </a:prstGeom>
          <a:noFill/>
        </p:spPr>
        <p:txBody>
          <a:bodyPr wrap="square" rtlCol="0" anchor="ctr"/>
          <a:lstStyle/>
          <a:p>
            <a:pPr marL="0" indent="0">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Processor</a:t>
            </a:r>
            <a:endParaRPr lang="en-US" sz="1150" dirty="0"/>
          </a:p>
        </p:txBody>
      </p:sp>
      <p:sp>
        <p:nvSpPr>
          <p:cNvPr id="23" name="Text 21"/>
          <p:cNvSpPr/>
          <p:nvPr/>
        </p:nvSpPr>
        <p:spPr>
          <a:xfrm>
            <a:off x="8915400" y="2468880"/>
            <a:ext cx="2606040" cy="384048"/>
          </a:xfrm>
          <a:prstGeom prst="rect">
            <a:avLst/>
          </a:prstGeom>
          <a:noFill/>
        </p:spPr>
        <p:txBody>
          <a:bodyPr wrap="square" rtlCol="0" anchor="ctr"/>
          <a:lstStyle/>
          <a:p>
            <a:pPr marL="0" indent="0">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Intel Core i5 (10th Gen) or higher</a:t>
            </a:r>
            <a:endParaRPr lang="en-US" sz="1100" dirty="0"/>
          </a:p>
        </p:txBody>
      </p:sp>
      <p:sp>
        <p:nvSpPr>
          <p:cNvPr id="24" name="Text 22"/>
          <p:cNvSpPr/>
          <p:nvPr/>
        </p:nvSpPr>
        <p:spPr>
          <a:xfrm>
            <a:off x="6537960" y="2889504"/>
            <a:ext cx="2331720" cy="384048"/>
          </a:xfrm>
          <a:prstGeom prst="rect">
            <a:avLst/>
          </a:prstGeom>
          <a:noFill/>
        </p:spPr>
        <p:txBody>
          <a:bodyPr wrap="square" rtlCol="0" anchor="ctr"/>
          <a:lstStyle/>
          <a:p>
            <a:pPr marL="0" indent="0">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RAM</a:t>
            </a:r>
            <a:endParaRPr lang="en-US" sz="1150" dirty="0"/>
          </a:p>
        </p:txBody>
      </p:sp>
      <p:sp>
        <p:nvSpPr>
          <p:cNvPr id="25" name="Text 23"/>
          <p:cNvSpPr/>
          <p:nvPr/>
        </p:nvSpPr>
        <p:spPr>
          <a:xfrm>
            <a:off x="8915400" y="2889504"/>
            <a:ext cx="2606040" cy="384048"/>
          </a:xfrm>
          <a:prstGeom prst="rect">
            <a:avLst/>
          </a:prstGeom>
          <a:noFill/>
        </p:spPr>
        <p:txBody>
          <a:bodyPr wrap="square" rtlCol="0" anchor="ctr"/>
          <a:lstStyle/>
          <a:p>
            <a:pPr marL="0" indent="0">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8 GB minimum (16 GB recommended)</a:t>
            </a:r>
            <a:endParaRPr lang="en-US" sz="1100" dirty="0"/>
          </a:p>
        </p:txBody>
      </p:sp>
      <p:sp>
        <p:nvSpPr>
          <p:cNvPr id="26" name="Text 24"/>
          <p:cNvSpPr/>
          <p:nvPr/>
        </p:nvSpPr>
        <p:spPr>
          <a:xfrm>
            <a:off x="6537960" y="3310128"/>
            <a:ext cx="2331720" cy="384048"/>
          </a:xfrm>
          <a:prstGeom prst="rect">
            <a:avLst/>
          </a:prstGeom>
          <a:noFill/>
        </p:spPr>
        <p:txBody>
          <a:bodyPr wrap="square" rtlCol="0" anchor="ctr"/>
          <a:lstStyle/>
          <a:p>
            <a:pPr marL="0" indent="0">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Storage</a:t>
            </a:r>
            <a:endParaRPr lang="en-US" sz="1150" dirty="0"/>
          </a:p>
        </p:txBody>
      </p:sp>
      <p:sp>
        <p:nvSpPr>
          <p:cNvPr id="27" name="Text 25"/>
          <p:cNvSpPr/>
          <p:nvPr/>
        </p:nvSpPr>
        <p:spPr>
          <a:xfrm>
            <a:off x="8915400" y="3310128"/>
            <a:ext cx="2606040" cy="384048"/>
          </a:xfrm>
          <a:prstGeom prst="rect">
            <a:avLst/>
          </a:prstGeom>
          <a:noFill/>
        </p:spPr>
        <p:txBody>
          <a:bodyPr wrap="square" rtlCol="0" anchor="ctr"/>
          <a:lstStyle/>
          <a:p>
            <a:pPr marL="0" indent="0">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256 GB SSD or higher</a:t>
            </a:r>
            <a:endParaRPr lang="en-US" sz="1100" dirty="0"/>
          </a:p>
        </p:txBody>
      </p:sp>
      <p:sp>
        <p:nvSpPr>
          <p:cNvPr id="28" name="Text 26"/>
          <p:cNvSpPr/>
          <p:nvPr/>
        </p:nvSpPr>
        <p:spPr>
          <a:xfrm>
            <a:off x="6537960" y="3730752"/>
            <a:ext cx="2331720" cy="384048"/>
          </a:xfrm>
          <a:prstGeom prst="rect">
            <a:avLst/>
          </a:prstGeom>
          <a:noFill/>
        </p:spPr>
        <p:txBody>
          <a:bodyPr wrap="square" rtlCol="0" anchor="ctr"/>
          <a:lstStyle/>
          <a:p>
            <a:pPr marL="0" indent="0">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Graphics</a:t>
            </a:r>
            <a:endParaRPr lang="en-US" sz="1150" dirty="0"/>
          </a:p>
        </p:txBody>
      </p:sp>
      <p:sp>
        <p:nvSpPr>
          <p:cNvPr id="29" name="Text 27"/>
          <p:cNvSpPr/>
          <p:nvPr/>
        </p:nvSpPr>
        <p:spPr>
          <a:xfrm>
            <a:off x="8915400" y="3730752"/>
            <a:ext cx="2606040" cy="384048"/>
          </a:xfrm>
          <a:prstGeom prst="rect">
            <a:avLst/>
          </a:prstGeom>
          <a:noFill/>
        </p:spPr>
        <p:txBody>
          <a:bodyPr wrap="square" rtlCol="0" anchor="ctr"/>
          <a:lstStyle/>
          <a:p>
            <a:pPr marL="0" indent="0">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Integrated GPU (dedicated GPU optional for ML training)</a:t>
            </a:r>
            <a:endParaRPr lang="en-US" sz="1100" dirty="0"/>
          </a:p>
        </p:txBody>
      </p:sp>
      <p:sp>
        <p:nvSpPr>
          <p:cNvPr id="30" name="Text 28"/>
          <p:cNvSpPr/>
          <p:nvPr/>
        </p:nvSpPr>
        <p:spPr>
          <a:xfrm>
            <a:off x="6537960" y="4151376"/>
            <a:ext cx="2331720" cy="384048"/>
          </a:xfrm>
          <a:prstGeom prst="rect">
            <a:avLst/>
          </a:prstGeom>
          <a:noFill/>
        </p:spPr>
        <p:txBody>
          <a:bodyPr wrap="square" rtlCol="0" anchor="ctr"/>
          <a:lstStyle/>
          <a:p>
            <a:pPr marL="0" indent="0">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Display</a:t>
            </a:r>
            <a:endParaRPr lang="en-US" sz="1150" dirty="0"/>
          </a:p>
        </p:txBody>
      </p:sp>
      <p:sp>
        <p:nvSpPr>
          <p:cNvPr id="31" name="Text 29"/>
          <p:cNvSpPr/>
          <p:nvPr/>
        </p:nvSpPr>
        <p:spPr>
          <a:xfrm>
            <a:off x="8915400" y="4151376"/>
            <a:ext cx="2606040" cy="384048"/>
          </a:xfrm>
          <a:prstGeom prst="rect">
            <a:avLst/>
          </a:prstGeom>
          <a:noFill/>
        </p:spPr>
        <p:txBody>
          <a:bodyPr wrap="square" rtlCol="0" anchor="ctr"/>
          <a:lstStyle/>
          <a:p>
            <a:pPr marL="0" indent="0">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1920 × 1080 resolution</a:t>
            </a:r>
            <a:endParaRPr lang="en-US" sz="1100" dirty="0"/>
          </a:p>
        </p:txBody>
      </p:sp>
      <p:sp>
        <p:nvSpPr>
          <p:cNvPr id="32" name="Text 30"/>
          <p:cNvSpPr/>
          <p:nvPr/>
        </p:nvSpPr>
        <p:spPr>
          <a:xfrm>
            <a:off x="6537960" y="4572000"/>
            <a:ext cx="2331720" cy="384048"/>
          </a:xfrm>
          <a:prstGeom prst="rect">
            <a:avLst/>
          </a:prstGeom>
          <a:noFill/>
        </p:spPr>
        <p:txBody>
          <a:bodyPr wrap="square" rtlCol="0" anchor="ctr"/>
          <a:lstStyle/>
          <a:p>
            <a:pPr marL="0" indent="0">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Connectivity</a:t>
            </a:r>
            <a:endParaRPr lang="en-US" sz="1150" dirty="0"/>
          </a:p>
        </p:txBody>
      </p:sp>
      <p:sp>
        <p:nvSpPr>
          <p:cNvPr id="33" name="Text 31"/>
          <p:cNvSpPr/>
          <p:nvPr/>
        </p:nvSpPr>
        <p:spPr>
          <a:xfrm>
            <a:off x="8915400" y="4572000"/>
            <a:ext cx="2606040" cy="384048"/>
          </a:xfrm>
          <a:prstGeom prst="rect">
            <a:avLst/>
          </a:prstGeom>
          <a:noFill/>
        </p:spPr>
        <p:txBody>
          <a:bodyPr wrap="square" rtlCol="0" anchor="ctr"/>
          <a:lstStyle/>
          <a:p>
            <a:pPr marL="0" indent="0">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Stable internet connection for cloud NLP APIs</a:t>
            </a:r>
            <a:endParaRPr lang="en-US" sz="1100" dirty="0"/>
          </a:p>
        </p:txBody>
      </p:sp>
      <p:sp>
        <p:nvSpPr>
          <p:cNvPr id="34" name="Text 32"/>
          <p:cNvSpPr/>
          <p:nvPr/>
        </p:nvSpPr>
        <p:spPr>
          <a:xfrm>
            <a:off x="6537960" y="4992624"/>
            <a:ext cx="2331720" cy="384048"/>
          </a:xfrm>
          <a:prstGeom prst="rect">
            <a:avLst/>
          </a:prstGeom>
          <a:noFill/>
        </p:spPr>
        <p:txBody>
          <a:bodyPr wrap="square" rtlCol="0" anchor="ctr"/>
          <a:lstStyle/>
          <a:p>
            <a:pPr marL="0" indent="0">
              <a:buNone/>
            </a:pPr>
            <a:r>
              <a:rPr lang="en-US" sz="1150" b="1" dirty="0">
                <a:solidFill>
                  <a:srgbClr val="101B33"/>
                </a:solidFill>
                <a:latin typeface="Calibri" panose="020F0502020204030204" pitchFamily="34" charset="0"/>
                <a:ea typeface="Calibri" panose="020F0502020204030204" pitchFamily="34" charset="-122"/>
                <a:cs typeface="Calibri" panose="020F0502020204030204" pitchFamily="34" charset="-120"/>
              </a:rPr>
              <a:t>Peripherals</a:t>
            </a:r>
            <a:endParaRPr lang="en-US" sz="1150" dirty="0"/>
          </a:p>
        </p:txBody>
      </p:sp>
      <p:sp>
        <p:nvSpPr>
          <p:cNvPr id="35" name="Text 33"/>
          <p:cNvSpPr/>
          <p:nvPr/>
        </p:nvSpPr>
        <p:spPr>
          <a:xfrm>
            <a:off x="8915400" y="4992624"/>
            <a:ext cx="2606040" cy="384048"/>
          </a:xfrm>
          <a:prstGeom prst="rect">
            <a:avLst/>
          </a:prstGeom>
          <a:noFill/>
        </p:spPr>
        <p:txBody>
          <a:bodyPr wrap="square" rtlCol="0" anchor="ctr"/>
          <a:lstStyle/>
          <a:p>
            <a:pPr marL="0" indent="0">
              <a:buNone/>
            </a:pPr>
            <a:r>
              <a:rPr lang="en-US" sz="1100" dirty="0">
                <a:solidFill>
                  <a:srgbClr val="4A4A58"/>
                </a:solidFill>
                <a:latin typeface="Calibri" panose="020F0502020204030204" pitchFamily="34" charset="0"/>
                <a:ea typeface="Calibri" panose="020F0502020204030204" pitchFamily="34" charset="-122"/>
                <a:cs typeface="Calibri" panose="020F0502020204030204" pitchFamily="34" charset="-120"/>
              </a:rPr>
              <a:t>Standard keyboard, mouse</a:t>
            </a:r>
            <a:endParaRPr lang="en-US" sz="1100" dirty="0"/>
          </a:p>
        </p:txBody>
      </p:sp>
      <p:sp>
        <p:nvSpPr>
          <p:cNvPr id="36" name="Text 34"/>
          <p:cNvSpPr/>
          <p:nvPr/>
        </p:nvSpPr>
        <p:spPr>
          <a:xfrm>
            <a:off x="365760" y="6473952"/>
            <a:ext cx="7315200" cy="274320"/>
          </a:xfrm>
          <a:prstGeom prst="rect">
            <a:avLst/>
          </a:prstGeom>
          <a:noFill/>
        </p:spPr>
        <p:txBody>
          <a:bodyPr wrap="square" rtlCol="0" anchor="ctr"/>
          <a:lstStyle/>
          <a:p>
            <a:pPr marL="0" indent="0">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Resume–Job Matching &amp; Talent-Marketplace Engine</a:t>
            </a:r>
            <a:endParaRPr lang="en-US" sz="900" dirty="0"/>
          </a:p>
        </p:txBody>
      </p:sp>
      <p:sp>
        <p:nvSpPr>
          <p:cNvPr id="37" name="Text 35"/>
          <p:cNvSpPr/>
          <p:nvPr/>
        </p:nvSpPr>
        <p:spPr>
          <a:xfrm>
            <a:off x="11365992" y="6473952"/>
            <a:ext cx="457200" cy="274320"/>
          </a:xfrm>
          <a:prstGeom prst="rect">
            <a:avLst/>
          </a:prstGeom>
          <a:noFill/>
        </p:spPr>
        <p:txBody>
          <a:bodyPr wrap="square" rtlCol="0" anchor="ctr"/>
          <a:lstStyle/>
          <a:p>
            <a:pPr marL="0" indent="0" algn="r">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300" b="1" kern="0" spc="200" dirty="0">
                <a:solidFill>
                  <a:srgbClr val="C0392B"/>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01B33"/>
                </a:solidFill>
                <a:latin typeface="Calibri" panose="020F0502020204030204" pitchFamily="34" charset="0"/>
                <a:ea typeface="Calibri" panose="020F0502020204030204" pitchFamily="34" charset="-122"/>
                <a:cs typeface="Calibri" panose="020F0502020204030204" pitchFamily="34" charset="-120"/>
              </a:rPr>
              <a:t>Methodology</a:t>
            </a:r>
            <a:endParaRPr lang="en-US" sz="3000" dirty="0"/>
          </a:p>
        </p:txBody>
      </p:sp>
      <p:sp>
        <p:nvSpPr>
          <p:cNvPr id="4" name="Shape 2"/>
          <p:cNvSpPr/>
          <p:nvPr/>
        </p:nvSpPr>
        <p:spPr>
          <a:xfrm>
            <a:off x="548640" y="1737360"/>
            <a:ext cx="3520440" cy="1965960"/>
          </a:xfrm>
          <a:prstGeom prst="roundRect">
            <a:avLst>
              <a:gd name="adj" fmla="val 4186"/>
            </a:avLst>
          </a:prstGeom>
          <a:solidFill>
            <a:srgbClr val="FFFFFF"/>
          </a:solidFill>
          <a:effectLst>
            <a:outerShdw blurRad="76200" dist="25400" dir="5400000" algn="bl" rotWithShape="0">
              <a:srgbClr val="1B2A4A">
                <a:alpha val="14000"/>
              </a:srgbClr>
            </a:outerShdw>
          </a:effectLst>
        </p:spPr>
      </p:sp>
      <p:sp>
        <p:nvSpPr>
          <p:cNvPr id="5" name="Shape 3"/>
          <p:cNvSpPr/>
          <p:nvPr/>
        </p:nvSpPr>
        <p:spPr>
          <a:xfrm>
            <a:off x="777240" y="1938528"/>
            <a:ext cx="502920" cy="502920"/>
          </a:xfrm>
          <a:prstGeom prst="roundRect">
            <a:avLst>
              <a:gd name="adj" fmla="val 16364"/>
            </a:avLst>
          </a:prstGeom>
          <a:solidFill>
            <a:srgbClr val="1B2A4A"/>
          </a:solidFill>
        </p:spPr>
      </p:sp>
      <p:sp>
        <p:nvSpPr>
          <p:cNvPr id="6" name="Text 4"/>
          <p:cNvSpPr/>
          <p:nvPr/>
        </p:nvSpPr>
        <p:spPr>
          <a:xfrm>
            <a:off x="777240" y="1938528"/>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7" name="Text 5"/>
          <p:cNvSpPr/>
          <p:nvPr/>
        </p:nvSpPr>
        <p:spPr>
          <a:xfrm>
            <a:off x="777240" y="2560320"/>
            <a:ext cx="3063240" cy="365760"/>
          </a:xfrm>
          <a:prstGeom prst="rect">
            <a:avLst/>
          </a:prstGeom>
          <a:noFill/>
        </p:spPr>
        <p:txBody>
          <a:bodyPr wrap="square" rtlCol="0" anchor="ctr"/>
          <a:lstStyle/>
          <a:p>
            <a:pPr marL="0" indent="0">
              <a:buNone/>
            </a:pPr>
            <a:r>
              <a:rPr lang="en-US" sz="1400" b="1" dirty="0">
                <a:solidFill>
                  <a:srgbClr val="101B33"/>
                </a:solidFill>
                <a:latin typeface="Calibri" panose="020F0502020204030204" pitchFamily="34" charset="0"/>
                <a:ea typeface="Calibri" panose="020F0502020204030204" pitchFamily="34" charset="-122"/>
                <a:cs typeface="Calibri" panose="020F0502020204030204" pitchFamily="34" charset="-120"/>
              </a:rPr>
              <a:t>Data Collection</a:t>
            </a:r>
            <a:endParaRPr lang="en-US" sz="1400" dirty="0"/>
          </a:p>
        </p:txBody>
      </p:sp>
      <p:sp>
        <p:nvSpPr>
          <p:cNvPr id="8" name="Text 6"/>
          <p:cNvSpPr/>
          <p:nvPr/>
        </p:nvSpPr>
        <p:spPr>
          <a:xfrm>
            <a:off x="777240" y="2926080"/>
            <a:ext cx="3063240" cy="731520"/>
          </a:xfrm>
          <a:prstGeom prst="rect">
            <a:avLst/>
          </a:prstGeom>
          <a:noFill/>
        </p:spPr>
        <p:txBody>
          <a:bodyPr wrap="square" rtlCol="0" anchor="t"/>
          <a:lstStyle/>
          <a:p>
            <a:pPr marL="0" indent="0">
              <a:lnSpc>
                <a:spcPct val="115000"/>
              </a:lnSpc>
              <a:buNone/>
            </a:pPr>
            <a:r>
              <a:rPr lang="en-US" sz="1050" dirty="0">
                <a:solidFill>
                  <a:srgbClr val="4A4A58"/>
                </a:solidFill>
                <a:latin typeface="Calibri" panose="020F0502020204030204" pitchFamily="34" charset="0"/>
                <a:ea typeface="Calibri" panose="020F0502020204030204" pitchFamily="34" charset="-122"/>
                <a:cs typeface="Calibri" panose="020F0502020204030204" pitchFamily="34" charset="-120"/>
              </a:rPr>
              <a:t>Gather résumés and job postings; build a structured dataset of candidate and job attributes.</a:t>
            </a:r>
            <a:endParaRPr lang="en-US" sz="1050" dirty="0"/>
          </a:p>
        </p:txBody>
      </p:sp>
      <p:sp>
        <p:nvSpPr>
          <p:cNvPr id="9" name="Text 7"/>
          <p:cNvSpPr/>
          <p:nvPr/>
        </p:nvSpPr>
        <p:spPr>
          <a:xfrm>
            <a:off x="4087368" y="2537460"/>
            <a:ext cx="237744" cy="365760"/>
          </a:xfrm>
          <a:prstGeom prst="rect">
            <a:avLst/>
          </a:prstGeom>
          <a:noFill/>
        </p:spPr>
        <p:txBody>
          <a:bodyPr wrap="square" rtlCol="0" anchor="ctr"/>
          <a:lstStyle/>
          <a:p>
            <a:pPr marL="0" indent="0" algn="ctr">
              <a:buNone/>
            </a:pPr>
            <a:r>
              <a:rPr lang="en-US" sz="1600" b="1" dirty="0">
                <a:solidFill>
                  <a:srgbClr val="B7BDD6"/>
                </a:solidFill>
              </a:rPr>
              <a:t>→</a:t>
            </a:r>
            <a:endParaRPr lang="en-US" sz="1600" dirty="0"/>
          </a:p>
        </p:txBody>
      </p:sp>
      <p:sp>
        <p:nvSpPr>
          <p:cNvPr id="10" name="Shape 8"/>
          <p:cNvSpPr/>
          <p:nvPr/>
        </p:nvSpPr>
        <p:spPr>
          <a:xfrm>
            <a:off x="4325112" y="1737360"/>
            <a:ext cx="3520440" cy="1965960"/>
          </a:xfrm>
          <a:prstGeom prst="roundRect">
            <a:avLst>
              <a:gd name="adj" fmla="val 4186"/>
            </a:avLst>
          </a:prstGeom>
          <a:solidFill>
            <a:srgbClr val="FFFFFF"/>
          </a:solidFill>
          <a:effectLst>
            <a:outerShdw blurRad="76200" dist="25400" dir="5400000" algn="bl" rotWithShape="0">
              <a:srgbClr val="1B2A4A">
                <a:alpha val="14000"/>
              </a:srgbClr>
            </a:outerShdw>
          </a:effectLst>
        </p:spPr>
      </p:sp>
      <p:sp>
        <p:nvSpPr>
          <p:cNvPr id="11" name="Shape 9"/>
          <p:cNvSpPr/>
          <p:nvPr/>
        </p:nvSpPr>
        <p:spPr>
          <a:xfrm>
            <a:off x="4553712" y="1938528"/>
            <a:ext cx="502920" cy="502920"/>
          </a:xfrm>
          <a:prstGeom prst="roundRect">
            <a:avLst>
              <a:gd name="adj" fmla="val 16364"/>
            </a:avLst>
          </a:prstGeom>
          <a:solidFill>
            <a:srgbClr val="C0392B"/>
          </a:solidFill>
        </p:spPr>
      </p:sp>
      <p:sp>
        <p:nvSpPr>
          <p:cNvPr id="12" name="Text 10"/>
          <p:cNvSpPr/>
          <p:nvPr/>
        </p:nvSpPr>
        <p:spPr>
          <a:xfrm>
            <a:off x="4553712" y="1938528"/>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3" name="Text 11"/>
          <p:cNvSpPr/>
          <p:nvPr/>
        </p:nvSpPr>
        <p:spPr>
          <a:xfrm>
            <a:off x="4553712" y="2560320"/>
            <a:ext cx="3063240" cy="365760"/>
          </a:xfrm>
          <a:prstGeom prst="rect">
            <a:avLst/>
          </a:prstGeom>
          <a:noFill/>
        </p:spPr>
        <p:txBody>
          <a:bodyPr wrap="square" rtlCol="0" anchor="ctr"/>
          <a:lstStyle/>
          <a:p>
            <a:pPr marL="0" indent="0">
              <a:buNone/>
            </a:pPr>
            <a:r>
              <a:rPr lang="en-US" sz="1400" b="1" dirty="0">
                <a:solidFill>
                  <a:srgbClr val="101B33"/>
                </a:solidFill>
                <a:latin typeface="Calibri" panose="020F0502020204030204" pitchFamily="34" charset="0"/>
                <a:ea typeface="Calibri" panose="020F0502020204030204" pitchFamily="34" charset="-122"/>
                <a:cs typeface="Calibri" panose="020F0502020204030204" pitchFamily="34" charset="-120"/>
              </a:rPr>
              <a:t>Preprocessing &amp; Parsing</a:t>
            </a:r>
            <a:endParaRPr lang="en-US" sz="1400" dirty="0"/>
          </a:p>
        </p:txBody>
      </p:sp>
      <p:sp>
        <p:nvSpPr>
          <p:cNvPr id="14" name="Text 12"/>
          <p:cNvSpPr/>
          <p:nvPr/>
        </p:nvSpPr>
        <p:spPr>
          <a:xfrm>
            <a:off x="4553712" y="2926080"/>
            <a:ext cx="3063240" cy="731520"/>
          </a:xfrm>
          <a:prstGeom prst="rect">
            <a:avLst/>
          </a:prstGeom>
          <a:noFill/>
        </p:spPr>
        <p:txBody>
          <a:bodyPr wrap="square" rtlCol="0" anchor="t"/>
          <a:lstStyle/>
          <a:p>
            <a:pPr marL="0" indent="0">
              <a:lnSpc>
                <a:spcPct val="115000"/>
              </a:lnSpc>
              <a:buNone/>
            </a:pPr>
            <a:r>
              <a:rPr lang="en-US" sz="1050" dirty="0">
                <a:solidFill>
                  <a:srgbClr val="4A4A58"/>
                </a:solidFill>
                <a:latin typeface="Calibri" panose="020F0502020204030204" pitchFamily="34" charset="0"/>
                <a:ea typeface="Calibri" panose="020F0502020204030204" pitchFamily="34" charset="-122"/>
                <a:cs typeface="Calibri" panose="020F0502020204030204" pitchFamily="34" charset="-120"/>
              </a:rPr>
              <a:t>Use NLP to clean text and extract entities — skills, education, experience — into structured fields.</a:t>
            </a:r>
            <a:endParaRPr lang="en-US" sz="1050" dirty="0"/>
          </a:p>
        </p:txBody>
      </p:sp>
      <p:sp>
        <p:nvSpPr>
          <p:cNvPr id="15" name="Text 13"/>
          <p:cNvSpPr/>
          <p:nvPr/>
        </p:nvSpPr>
        <p:spPr>
          <a:xfrm>
            <a:off x="7863840" y="2537460"/>
            <a:ext cx="237744" cy="365760"/>
          </a:xfrm>
          <a:prstGeom prst="rect">
            <a:avLst/>
          </a:prstGeom>
          <a:noFill/>
        </p:spPr>
        <p:txBody>
          <a:bodyPr wrap="square" rtlCol="0" anchor="ctr"/>
          <a:lstStyle/>
          <a:p>
            <a:pPr marL="0" indent="0" algn="ctr">
              <a:buNone/>
            </a:pPr>
            <a:r>
              <a:rPr lang="en-US" sz="1600" b="1" dirty="0">
                <a:solidFill>
                  <a:srgbClr val="B7BDD6"/>
                </a:solidFill>
              </a:rPr>
              <a:t>→</a:t>
            </a:r>
            <a:endParaRPr lang="en-US" sz="1600" dirty="0"/>
          </a:p>
        </p:txBody>
      </p:sp>
      <p:sp>
        <p:nvSpPr>
          <p:cNvPr id="16" name="Shape 14"/>
          <p:cNvSpPr/>
          <p:nvPr/>
        </p:nvSpPr>
        <p:spPr>
          <a:xfrm>
            <a:off x="8101584" y="1737360"/>
            <a:ext cx="3520440" cy="1965960"/>
          </a:xfrm>
          <a:prstGeom prst="roundRect">
            <a:avLst>
              <a:gd name="adj" fmla="val 4186"/>
            </a:avLst>
          </a:prstGeom>
          <a:solidFill>
            <a:srgbClr val="FFFFFF"/>
          </a:solidFill>
          <a:effectLst>
            <a:outerShdw blurRad="76200" dist="25400" dir="5400000" algn="bl" rotWithShape="0">
              <a:srgbClr val="1B2A4A">
                <a:alpha val="14000"/>
              </a:srgbClr>
            </a:outerShdw>
          </a:effectLst>
        </p:spPr>
      </p:sp>
      <p:sp>
        <p:nvSpPr>
          <p:cNvPr id="17" name="Shape 15"/>
          <p:cNvSpPr/>
          <p:nvPr/>
        </p:nvSpPr>
        <p:spPr>
          <a:xfrm>
            <a:off x="8330184" y="1938528"/>
            <a:ext cx="502920" cy="502920"/>
          </a:xfrm>
          <a:prstGeom prst="roundRect">
            <a:avLst>
              <a:gd name="adj" fmla="val 16364"/>
            </a:avLst>
          </a:prstGeom>
          <a:solidFill>
            <a:srgbClr val="3F3D9E"/>
          </a:solidFill>
        </p:spPr>
      </p:sp>
      <p:sp>
        <p:nvSpPr>
          <p:cNvPr id="18" name="Text 16"/>
          <p:cNvSpPr/>
          <p:nvPr/>
        </p:nvSpPr>
        <p:spPr>
          <a:xfrm>
            <a:off x="8330184" y="1938528"/>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19" name="Text 17"/>
          <p:cNvSpPr/>
          <p:nvPr/>
        </p:nvSpPr>
        <p:spPr>
          <a:xfrm>
            <a:off x="8330184" y="2560320"/>
            <a:ext cx="3063240" cy="365760"/>
          </a:xfrm>
          <a:prstGeom prst="rect">
            <a:avLst/>
          </a:prstGeom>
          <a:noFill/>
        </p:spPr>
        <p:txBody>
          <a:bodyPr wrap="square" rtlCol="0" anchor="ctr"/>
          <a:lstStyle/>
          <a:p>
            <a:pPr marL="0" indent="0">
              <a:buNone/>
            </a:pPr>
            <a:r>
              <a:rPr lang="en-US" sz="1400" b="1" dirty="0">
                <a:solidFill>
                  <a:srgbClr val="101B33"/>
                </a:solidFill>
                <a:latin typeface="Calibri" panose="020F0502020204030204" pitchFamily="34" charset="0"/>
                <a:ea typeface="Calibri" panose="020F0502020204030204" pitchFamily="34" charset="-122"/>
                <a:cs typeface="Calibri" panose="020F0502020204030204" pitchFamily="34" charset="-120"/>
              </a:rPr>
              <a:t>Feature Encoding</a:t>
            </a:r>
            <a:endParaRPr lang="en-US" sz="1400" dirty="0"/>
          </a:p>
        </p:txBody>
      </p:sp>
      <p:sp>
        <p:nvSpPr>
          <p:cNvPr id="20" name="Text 18"/>
          <p:cNvSpPr/>
          <p:nvPr/>
        </p:nvSpPr>
        <p:spPr>
          <a:xfrm>
            <a:off x="8330184" y="2926080"/>
            <a:ext cx="3063240" cy="731520"/>
          </a:xfrm>
          <a:prstGeom prst="rect">
            <a:avLst/>
          </a:prstGeom>
          <a:noFill/>
        </p:spPr>
        <p:txBody>
          <a:bodyPr wrap="square" rtlCol="0" anchor="t"/>
          <a:lstStyle/>
          <a:p>
            <a:pPr marL="0" indent="0">
              <a:lnSpc>
                <a:spcPct val="115000"/>
              </a:lnSpc>
              <a:buNone/>
            </a:pPr>
            <a:r>
              <a:rPr lang="en-US" sz="1050" dirty="0">
                <a:solidFill>
                  <a:srgbClr val="4A4A58"/>
                </a:solidFill>
                <a:latin typeface="Calibri" panose="020F0502020204030204" pitchFamily="34" charset="0"/>
                <a:ea typeface="Calibri" panose="020F0502020204030204" pitchFamily="34" charset="-122"/>
                <a:cs typeface="Calibri" panose="020F0502020204030204" pitchFamily="34" charset="-120"/>
              </a:rPr>
              <a:t>Store extracted skills using hash sets / tries for fast lookup and de-duplication.</a:t>
            </a:r>
            <a:endParaRPr lang="en-US" sz="1050" dirty="0"/>
          </a:p>
        </p:txBody>
      </p:sp>
      <p:sp>
        <p:nvSpPr>
          <p:cNvPr id="21" name="Shape 19"/>
          <p:cNvSpPr/>
          <p:nvPr/>
        </p:nvSpPr>
        <p:spPr>
          <a:xfrm>
            <a:off x="548640" y="4023360"/>
            <a:ext cx="3520440" cy="1965960"/>
          </a:xfrm>
          <a:prstGeom prst="roundRect">
            <a:avLst>
              <a:gd name="adj" fmla="val 4186"/>
            </a:avLst>
          </a:prstGeom>
          <a:solidFill>
            <a:srgbClr val="FFFFFF"/>
          </a:solidFill>
          <a:effectLst>
            <a:outerShdw blurRad="76200" dist="25400" dir="5400000" algn="bl" rotWithShape="0">
              <a:srgbClr val="1B2A4A">
                <a:alpha val="14000"/>
              </a:srgbClr>
            </a:outerShdw>
          </a:effectLst>
        </p:spPr>
      </p:sp>
      <p:sp>
        <p:nvSpPr>
          <p:cNvPr id="22" name="Shape 20"/>
          <p:cNvSpPr/>
          <p:nvPr/>
        </p:nvSpPr>
        <p:spPr>
          <a:xfrm>
            <a:off x="777240" y="4224528"/>
            <a:ext cx="502920" cy="502920"/>
          </a:xfrm>
          <a:prstGeom prst="roundRect">
            <a:avLst>
              <a:gd name="adj" fmla="val 16364"/>
            </a:avLst>
          </a:prstGeom>
          <a:solidFill>
            <a:srgbClr val="1B2A4A"/>
          </a:solidFill>
        </p:spPr>
      </p:sp>
      <p:sp>
        <p:nvSpPr>
          <p:cNvPr id="23" name="Text 21"/>
          <p:cNvSpPr/>
          <p:nvPr/>
        </p:nvSpPr>
        <p:spPr>
          <a:xfrm>
            <a:off x="777240" y="4224528"/>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sp>
        <p:nvSpPr>
          <p:cNvPr id="24" name="Text 22"/>
          <p:cNvSpPr/>
          <p:nvPr/>
        </p:nvSpPr>
        <p:spPr>
          <a:xfrm>
            <a:off x="777240" y="4846320"/>
            <a:ext cx="3063240" cy="365760"/>
          </a:xfrm>
          <a:prstGeom prst="rect">
            <a:avLst/>
          </a:prstGeom>
          <a:noFill/>
        </p:spPr>
        <p:txBody>
          <a:bodyPr wrap="square" rtlCol="0" anchor="ctr"/>
          <a:lstStyle/>
          <a:p>
            <a:pPr marL="0" indent="0">
              <a:buNone/>
            </a:pPr>
            <a:r>
              <a:rPr lang="en-US" sz="1400" b="1" dirty="0">
                <a:solidFill>
                  <a:srgbClr val="101B33"/>
                </a:solidFill>
                <a:latin typeface="Calibri" panose="020F0502020204030204" pitchFamily="34" charset="0"/>
                <a:ea typeface="Calibri" panose="020F0502020204030204" pitchFamily="34" charset="-122"/>
                <a:cs typeface="Calibri" panose="020F0502020204030204" pitchFamily="34" charset="-120"/>
              </a:rPr>
              <a:t>Matching Algorithm</a:t>
            </a:r>
            <a:endParaRPr lang="en-US" sz="1400" dirty="0"/>
          </a:p>
        </p:txBody>
      </p:sp>
      <p:sp>
        <p:nvSpPr>
          <p:cNvPr id="25" name="Text 23"/>
          <p:cNvSpPr/>
          <p:nvPr/>
        </p:nvSpPr>
        <p:spPr>
          <a:xfrm>
            <a:off x="777240" y="5212080"/>
            <a:ext cx="3063240" cy="731520"/>
          </a:xfrm>
          <a:prstGeom prst="rect">
            <a:avLst/>
          </a:prstGeom>
          <a:noFill/>
        </p:spPr>
        <p:txBody>
          <a:bodyPr wrap="square" rtlCol="0" anchor="t"/>
          <a:lstStyle/>
          <a:p>
            <a:pPr marL="0" indent="0">
              <a:lnSpc>
                <a:spcPct val="115000"/>
              </a:lnSpc>
              <a:buNone/>
            </a:pPr>
            <a:r>
              <a:rPr lang="en-US" sz="1050" dirty="0">
                <a:solidFill>
                  <a:srgbClr val="4A4A58"/>
                </a:solidFill>
                <a:latin typeface="Calibri" panose="020F0502020204030204" pitchFamily="34" charset="0"/>
                <a:ea typeface="Calibri" panose="020F0502020204030204" pitchFamily="34" charset="-122"/>
                <a:cs typeface="Calibri" panose="020F0502020204030204" pitchFamily="34" charset="-120"/>
              </a:rPr>
              <a:t>Compute similarity between candidate and job vectors (e.g. cosine similarity, weighted scoring).</a:t>
            </a:r>
            <a:endParaRPr lang="en-US" sz="1050" dirty="0"/>
          </a:p>
        </p:txBody>
      </p:sp>
      <p:sp>
        <p:nvSpPr>
          <p:cNvPr id="26" name="Text 24"/>
          <p:cNvSpPr/>
          <p:nvPr/>
        </p:nvSpPr>
        <p:spPr>
          <a:xfrm>
            <a:off x="4087368" y="4823460"/>
            <a:ext cx="237744" cy="365760"/>
          </a:xfrm>
          <a:prstGeom prst="rect">
            <a:avLst/>
          </a:prstGeom>
          <a:noFill/>
        </p:spPr>
        <p:txBody>
          <a:bodyPr wrap="square" rtlCol="0" anchor="ctr"/>
          <a:lstStyle/>
          <a:p>
            <a:pPr marL="0" indent="0" algn="ctr">
              <a:buNone/>
            </a:pPr>
            <a:r>
              <a:rPr lang="en-US" sz="1600" b="1" dirty="0">
                <a:solidFill>
                  <a:srgbClr val="B7BDD6"/>
                </a:solidFill>
              </a:rPr>
              <a:t>→</a:t>
            </a:r>
            <a:endParaRPr lang="en-US" sz="1600" dirty="0"/>
          </a:p>
        </p:txBody>
      </p:sp>
      <p:sp>
        <p:nvSpPr>
          <p:cNvPr id="27" name="Shape 25"/>
          <p:cNvSpPr/>
          <p:nvPr/>
        </p:nvSpPr>
        <p:spPr>
          <a:xfrm>
            <a:off x="4325112" y="4023360"/>
            <a:ext cx="3520440" cy="1965960"/>
          </a:xfrm>
          <a:prstGeom prst="roundRect">
            <a:avLst>
              <a:gd name="adj" fmla="val 4186"/>
            </a:avLst>
          </a:prstGeom>
          <a:solidFill>
            <a:srgbClr val="FFFFFF"/>
          </a:solidFill>
          <a:effectLst>
            <a:outerShdw blurRad="76200" dist="25400" dir="5400000" algn="bl" rotWithShape="0">
              <a:srgbClr val="1B2A4A">
                <a:alpha val="14000"/>
              </a:srgbClr>
            </a:outerShdw>
          </a:effectLst>
        </p:spPr>
      </p:sp>
      <p:sp>
        <p:nvSpPr>
          <p:cNvPr id="28" name="Shape 26"/>
          <p:cNvSpPr/>
          <p:nvPr/>
        </p:nvSpPr>
        <p:spPr>
          <a:xfrm>
            <a:off x="4553712" y="4224528"/>
            <a:ext cx="502920" cy="502920"/>
          </a:xfrm>
          <a:prstGeom prst="roundRect">
            <a:avLst>
              <a:gd name="adj" fmla="val 16364"/>
            </a:avLst>
          </a:prstGeom>
          <a:solidFill>
            <a:srgbClr val="C0392B"/>
          </a:solidFill>
        </p:spPr>
      </p:sp>
      <p:sp>
        <p:nvSpPr>
          <p:cNvPr id="29" name="Text 27"/>
          <p:cNvSpPr/>
          <p:nvPr/>
        </p:nvSpPr>
        <p:spPr>
          <a:xfrm>
            <a:off x="4553712" y="4224528"/>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800" dirty="0"/>
          </a:p>
        </p:txBody>
      </p:sp>
      <p:sp>
        <p:nvSpPr>
          <p:cNvPr id="30" name="Text 28"/>
          <p:cNvSpPr/>
          <p:nvPr/>
        </p:nvSpPr>
        <p:spPr>
          <a:xfrm>
            <a:off x="4553712" y="4846320"/>
            <a:ext cx="3063240" cy="365760"/>
          </a:xfrm>
          <a:prstGeom prst="rect">
            <a:avLst/>
          </a:prstGeom>
          <a:noFill/>
        </p:spPr>
        <p:txBody>
          <a:bodyPr wrap="square" rtlCol="0" anchor="ctr"/>
          <a:lstStyle/>
          <a:p>
            <a:pPr marL="0" indent="0">
              <a:buNone/>
            </a:pPr>
            <a:r>
              <a:rPr lang="en-US" sz="1400" b="1" dirty="0">
                <a:solidFill>
                  <a:srgbClr val="101B33"/>
                </a:solidFill>
                <a:latin typeface="Calibri" panose="020F0502020204030204" pitchFamily="34" charset="0"/>
                <a:ea typeface="Calibri" panose="020F0502020204030204" pitchFamily="34" charset="-122"/>
                <a:cs typeface="Calibri" panose="020F0502020204030204" pitchFamily="34" charset="-120"/>
              </a:rPr>
              <a:t>Ranking &amp; Sorting</a:t>
            </a:r>
            <a:endParaRPr lang="en-US" sz="1400" dirty="0"/>
          </a:p>
        </p:txBody>
      </p:sp>
      <p:sp>
        <p:nvSpPr>
          <p:cNvPr id="31" name="Text 29"/>
          <p:cNvSpPr/>
          <p:nvPr/>
        </p:nvSpPr>
        <p:spPr>
          <a:xfrm>
            <a:off x="4553712" y="5212080"/>
            <a:ext cx="3063240" cy="731520"/>
          </a:xfrm>
          <a:prstGeom prst="rect">
            <a:avLst/>
          </a:prstGeom>
          <a:noFill/>
        </p:spPr>
        <p:txBody>
          <a:bodyPr wrap="square" rtlCol="0" anchor="t"/>
          <a:lstStyle/>
          <a:p>
            <a:pPr marL="0" indent="0">
              <a:lnSpc>
                <a:spcPct val="115000"/>
              </a:lnSpc>
              <a:buNone/>
            </a:pPr>
            <a:r>
              <a:rPr lang="en-US" sz="1050" dirty="0">
                <a:solidFill>
                  <a:srgbClr val="4A4A58"/>
                </a:solidFill>
                <a:latin typeface="Calibri" panose="020F0502020204030204" pitchFamily="34" charset="0"/>
                <a:ea typeface="Calibri" panose="020F0502020204030204" pitchFamily="34" charset="-122"/>
                <a:cs typeface="Calibri" panose="020F0502020204030204" pitchFamily="34" charset="-120"/>
              </a:rPr>
              <a:t>Apply sorting algorithms to rank candidates/jobs by match score for efficient shortlisting.</a:t>
            </a:r>
            <a:endParaRPr lang="en-US" sz="1050" dirty="0"/>
          </a:p>
        </p:txBody>
      </p:sp>
      <p:sp>
        <p:nvSpPr>
          <p:cNvPr id="32" name="Text 30"/>
          <p:cNvSpPr/>
          <p:nvPr/>
        </p:nvSpPr>
        <p:spPr>
          <a:xfrm>
            <a:off x="7863840" y="4823460"/>
            <a:ext cx="237744" cy="365760"/>
          </a:xfrm>
          <a:prstGeom prst="rect">
            <a:avLst/>
          </a:prstGeom>
          <a:noFill/>
        </p:spPr>
        <p:txBody>
          <a:bodyPr wrap="square" rtlCol="0" anchor="ctr"/>
          <a:lstStyle/>
          <a:p>
            <a:pPr marL="0" indent="0" algn="ctr">
              <a:buNone/>
            </a:pPr>
            <a:r>
              <a:rPr lang="en-US" sz="1600" b="1" dirty="0">
                <a:solidFill>
                  <a:srgbClr val="B7BDD6"/>
                </a:solidFill>
              </a:rPr>
              <a:t>→</a:t>
            </a:r>
            <a:endParaRPr lang="en-US" sz="1600" dirty="0"/>
          </a:p>
        </p:txBody>
      </p:sp>
      <p:sp>
        <p:nvSpPr>
          <p:cNvPr id="33" name="Shape 31"/>
          <p:cNvSpPr/>
          <p:nvPr/>
        </p:nvSpPr>
        <p:spPr>
          <a:xfrm>
            <a:off x="8101584" y="4023360"/>
            <a:ext cx="3520440" cy="1965960"/>
          </a:xfrm>
          <a:prstGeom prst="roundRect">
            <a:avLst>
              <a:gd name="adj" fmla="val 4186"/>
            </a:avLst>
          </a:prstGeom>
          <a:solidFill>
            <a:srgbClr val="FFFFFF"/>
          </a:solidFill>
          <a:effectLst>
            <a:outerShdw blurRad="76200" dist="25400" dir="5400000" algn="bl" rotWithShape="0">
              <a:srgbClr val="1B2A4A">
                <a:alpha val="14000"/>
              </a:srgbClr>
            </a:outerShdw>
          </a:effectLst>
        </p:spPr>
      </p:sp>
      <p:sp>
        <p:nvSpPr>
          <p:cNvPr id="34" name="Shape 32"/>
          <p:cNvSpPr/>
          <p:nvPr/>
        </p:nvSpPr>
        <p:spPr>
          <a:xfrm>
            <a:off x="8330184" y="4224528"/>
            <a:ext cx="502920" cy="502920"/>
          </a:xfrm>
          <a:prstGeom prst="roundRect">
            <a:avLst>
              <a:gd name="adj" fmla="val 16364"/>
            </a:avLst>
          </a:prstGeom>
          <a:solidFill>
            <a:srgbClr val="3F3D9E"/>
          </a:solidFill>
        </p:spPr>
      </p:sp>
      <p:sp>
        <p:nvSpPr>
          <p:cNvPr id="35" name="Text 33"/>
          <p:cNvSpPr/>
          <p:nvPr/>
        </p:nvSpPr>
        <p:spPr>
          <a:xfrm>
            <a:off x="8330184" y="4224528"/>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800" dirty="0"/>
          </a:p>
        </p:txBody>
      </p:sp>
      <p:sp>
        <p:nvSpPr>
          <p:cNvPr id="36" name="Text 34"/>
          <p:cNvSpPr/>
          <p:nvPr/>
        </p:nvSpPr>
        <p:spPr>
          <a:xfrm>
            <a:off x="8330184" y="4846320"/>
            <a:ext cx="3063240" cy="365760"/>
          </a:xfrm>
          <a:prstGeom prst="rect">
            <a:avLst/>
          </a:prstGeom>
          <a:noFill/>
        </p:spPr>
        <p:txBody>
          <a:bodyPr wrap="square" rtlCol="0" anchor="ctr"/>
          <a:lstStyle/>
          <a:p>
            <a:pPr marL="0" indent="0">
              <a:buNone/>
            </a:pPr>
            <a:r>
              <a:rPr lang="en-US" sz="1400" b="1" dirty="0">
                <a:solidFill>
                  <a:srgbClr val="101B33"/>
                </a:solidFill>
                <a:latin typeface="Calibri" panose="020F0502020204030204" pitchFamily="34" charset="0"/>
                <a:ea typeface="Calibri" panose="020F0502020204030204" pitchFamily="34" charset="-122"/>
                <a:cs typeface="Calibri" panose="020F0502020204030204" pitchFamily="34" charset="-120"/>
              </a:rPr>
              <a:t>Gap Analysis &amp; Output</a:t>
            </a:r>
            <a:endParaRPr lang="en-US" sz="1400" dirty="0"/>
          </a:p>
        </p:txBody>
      </p:sp>
      <p:sp>
        <p:nvSpPr>
          <p:cNvPr id="37" name="Text 35"/>
          <p:cNvSpPr/>
          <p:nvPr/>
        </p:nvSpPr>
        <p:spPr>
          <a:xfrm>
            <a:off x="8330184" y="5212080"/>
            <a:ext cx="3063240" cy="731520"/>
          </a:xfrm>
          <a:prstGeom prst="rect">
            <a:avLst/>
          </a:prstGeom>
          <a:noFill/>
        </p:spPr>
        <p:txBody>
          <a:bodyPr wrap="square" rtlCol="0" anchor="t"/>
          <a:lstStyle/>
          <a:p>
            <a:pPr marL="0" indent="0">
              <a:lnSpc>
                <a:spcPct val="115000"/>
              </a:lnSpc>
              <a:buNone/>
            </a:pPr>
            <a:r>
              <a:rPr lang="en-US" sz="1050" dirty="0">
                <a:solidFill>
                  <a:srgbClr val="4A4A58"/>
                </a:solidFill>
                <a:latin typeface="Calibri" panose="020F0502020204030204" pitchFamily="34" charset="0"/>
                <a:ea typeface="Calibri" panose="020F0502020204030204" pitchFamily="34" charset="-122"/>
                <a:cs typeface="Calibri" panose="020F0502020204030204" pitchFamily="34" charset="-120"/>
              </a:rPr>
              <a:t>Identify missing skills, recommend learning resources, and present ranked results to users.</a:t>
            </a:r>
            <a:endParaRPr lang="en-US" sz="1050" dirty="0"/>
          </a:p>
        </p:txBody>
      </p:sp>
      <p:sp>
        <p:nvSpPr>
          <p:cNvPr id="38" name="Text 36"/>
          <p:cNvSpPr/>
          <p:nvPr/>
        </p:nvSpPr>
        <p:spPr>
          <a:xfrm>
            <a:off x="365760" y="6473952"/>
            <a:ext cx="7315200" cy="274320"/>
          </a:xfrm>
          <a:prstGeom prst="rect">
            <a:avLst/>
          </a:prstGeom>
          <a:noFill/>
        </p:spPr>
        <p:txBody>
          <a:bodyPr wrap="square" rtlCol="0" anchor="ctr"/>
          <a:lstStyle/>
          <a:p>
            <a:pPr marL="0" indent="0">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Resume–Job Matching &amp; Talent-Marketplace Engine</a:t>
            </a:r>
            <a:endParaRPr lang="en-US" sz="900" dirty="0"/>
          </a:p>
        </p:txBody>
      </p:sp>
      <p:sp>
        <p:nvSpPr>
          <p:cNvPr id="39" name="Text 37"/>
          <p:cNvSpPr/>
          <p:nvPr/>
        </p:nvSpPr>
        <p:spPr>
          <a:xfrm>
            <a:off x="11365992" y="6473952"/>
            <a:ext cx="457200" cy="274320"/>
          </a:xfrm>
          <a:prstGeom prst="rect">
            <a:avLst/>
          </a:prstGeom>
          <a:noFill/>
        </p:spPr>
        <p:txBody>
          <a:bodyPr wrap="square" rtlCol="0" anchor="ctr"/>
          <a:lstStyle/>
          <a:p>
            <a:pPr marL="0" indent="0" algn="r">
              <a:buNone/>
            </a:pPr>
            <a:r>
              <a:rPr lang="en-US" sz="900" dirty="0">
                <a:solidFill>
                  <a:srgbClr val="9AA3B5"/>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6386"/>
            <p:custDataLst>
              <p:tags r:id="rId1"/>
            </p:custDataLst>
          </p:nvPr>
        </p:nvSpPr>
        <p:spPr>
          <a:xfrm>
            <a:off x="1219200" y="2599055"/>
            <a:ext cx="9753600" cy="914400"/>
          </a:xfrm>
        </p:spPr>
        <p:txBody>
          <a:bodyPr/>
          <a:p>
            <a:r>
              <a:rPr lang="en-IN" altLang="en-US" sz="4800">
                <a:latin typeface="Times New Roman" panose="02020603050405020304" charset="0"/>
                <a:cs typeface="Times New Roman" panose="02020603050405020304" charset="0"/>
              </a:rPr>
              <a:t>THANK YOU</a:t>
            </a:r>
            <a:endParaRPr lang="en-IN" altLang="en-US" sz="4800">
              <a:latin typeface="Times New Roman" panose="02020603050405020304" charset="0"/>
              <a:cs typeface="Times New Roman" panose="02020603050405020304" charset="0"/>
            </a:endParaRPr>
          </a:p>
        </p:txBody>
      </p:sp>
    </p:spTree>
    <p:custDataLst>
      <p:tags r:id="rId2"/>
    </p:custDataLst>
  </p:cSld>
  <p:clrMapOvr>
    <a:masterClrMapping/>
  </p:clrMapOvr>
</p:sld>
</file>

<file path=ppt/tags/tag1.xml><?xml version="1.0" encoding="utf-8"?>
<p:tagLst xmlns:p="http://schemas.openxmlformats.org/presentationml/2006/main">
  <p:tag name="KSO_WM_BEAUTIFY_FLAG" val="#fgm#"/>
  <p:tag name="KSO_WM_FIGMA_FLAG" val="#fgm#"/>
  <p:tag name="KSO_WM_UNIT_INDEX" val="1"/>
  <p:tag name="KSO_WM_UNIT_TYPE" val="a"/>
  <p:tag name="KSO_WM_LAYOUT_CHECK_HASH" val="0cf22a6c6f3b915b54dfcacc2dc9678b1972b95d"/>
  <p:tag name="KSO_WM_NEWLAYOUT_ID" val="slide_0e3763c640ea4c61"/>
</p:tagLst>
</file>

<file path=ppt/tags/tag2.xml><?xml version="1.0" encoding="utf-8"?>
<p:tagLst xmlns:p="http://schemas.openxmlformats.org/presentationml/2006/main">
  <p:tag name="KSO_WM_BEAUTIFY_FLAG" val="#fgm#"/>
  <p:tag name="KSO_WM_FIGMA_FLAG" val="#fgm#"/>
  <p:tag name="KSO_WM_UNIT_INDEX" val="1"/>
  <p:tag name="KSO_WM_UNIT_TYPE" val="f"/>
</p:tagLst>
</file>

<file path=ppt/tags/tag3.xml><?xml version="1.0" encoding="utf-8"?>
<p:tagLst xmlns:p="http://schemas.openxmlformats.org/presentationml/2006/main">
  <p:tag name="KSO_WM_BEAUTIFY_FLAG" val="#fgm#"/>
  <p:tag name="KSO_WM_FIGMA_FLAG" val="#fgm#"/>
  <p:tag name="KSO_WM_UNIT_INDEX" val="1"/>
  <p:tag name="KSO_WM_UNIT_TYPE" val="f"/>
</p:tagLst>
</file>

<file path=ppt/tags/tag4.xml><?xml version="1.0" encoding="utf-8"?>
<p:tagLst xmlns:p="http://schemas.openxmlformats.org/presentationml/2006/main">
  <p:tag name="KSO_WM_SLIDE_CONTENT_ORIENTATION" val=""/>
  <p:tag name="KSO_WM_SLIDE_HAS_MASK" val="0"/>
  <p:tag name="KSO_WM_SLIDE_ITEM_CNT" val="0"/>
  <p:tag name="KSO_WM_SLIDE_TYPE" val="text"/>
  <p:tag name="KSO_WM_TEMPLATE_SUBCATEGORY" val="29"/>
  <p:tag name="KSO_WM_BEAUTIFY_FLAG" val="#wm#"/>
  <p:tag name="KSO_WM_TEMPLATE_SLIDE_ID" val="slide_0e3763c640ea4c6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4199</Words>
  <Application>WPS Presentation</Application>
  <PresentationFormat>On-screen Show (16:9)</PresentationFormat>
  <Paragraphs>242</Paragraphs>
  <Slides>7</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vt:i4>
      </vt:variant>
    </vt:vector>
  </HeadingPairs>
  <TitlesOfParts>
    <vt:vector size="18" baseType="lpstr">
      <vt:lpstr>Arial</vt:lpstr>
      <vt:lpstr>SimSun</vt:lpstr>
      <vt:lpstr>Wingdings</vt:lpstr>
      <vt:lpstr>Calibri</vt:lpstr>
      <vt:lpstr>Calibri</vt:lpstr>
      <vt:lpstr>Calibri</vt:lpstr>
      <vt:lpstr>Microsoft YaHei</vt:lpstr>
      <vt:lpstr>Arial Unicode MS</vt:lpstr>
      <vt:lpstr>Calibri Light</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R.BHANU PRIYA</cp:lastModifiedBy>
  <cp:revision>3</cp:revision>
  <dcterms:created xsi:type="dcterms:W3CDTF">2026-08-20T06:47:00Z</dcterms:created>
  <dcterms:modified xsi:type="dcterms:W3CDTF">2026-08-20T06:59:24Z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F30BCA59D9E04888B4101192D7480BFF_13</vt:lpwstr>
  </property>
</Properties>
</file>